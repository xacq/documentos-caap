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8" r:id="rId10"/>
    <p:sldId id="269" r:id="rId11"/>
    <p:sldId id="263" r:id="rId12"/>
    <p:sldId id="271" r:id="rId13"/>
    <p:sldId id="272" r:id="rId14"/>
    <p:sldId id="265" r:id="rId15"/>
    <p:sldId id="270" r:id="rId16"/>
  </p:sldIdLst>
  <p:sldSz cx="14630400" cy="8229600"/>
  <p:notesSz cx="8229600" cy="14630400"/>
  <p:embeddedFontLst>
    <p:embeddedFont>
      <p:font typeface="Roboto" panose="02000000000000000000" pitchFamily="2" charset="0"/>
      <p:regular r:id="rId18"/>
    </p:embeddedFont>
    <p:embeddedFont>
      <p:font typeface="Roboto Medium" panose="020000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10"/>
  </p:normalViewPr>
  <p:slideViewPr>
    <p:cSldViewPr snapToGrid="0" snapToObjects="1">
      <p:cViewPr>
        <p:scale>
          <a:sx n="65" d="100"/>
          <a:sy n="65" d="100"/>
        </p:scale>
        <p:origin x="754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23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F4519-0017-7B64-5513-6F202AFB2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00A4B-30E9-0A1E-6077-C0518F660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B26F9-F611-3067-807B-58978321F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A6BA5-59FA-6F75-39F9-0365DB595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4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B9053-EE55-E403-4D6A-4453DFFAB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1B3E4-44C4-3DDF-D603-6CE6B6AB5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E5881-1DCE-F99A-8257-92153AF18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FA04D-FB05-0838-F62C-1A6020B911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38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8879-760E-84CA-1ACC-50ED61108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864F4-5A62-56C9-3A78-6C4320946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C5571-A952-3FDE-697E-C3C200DAA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A1F03-79CF-F28B-C72B-5065C14BE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96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0B57E-C16D-2551-1757-A7FDADEE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5ECE3-9D0D-7801-2CC2-57A01A511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1EDE9-415F-AA8F-227C-2289164A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C1430-AD41-84D3-0E5F-96A265DAC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23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37E5-00F8-E7E5-694B-DB7D0BDA6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01B01-76ED-BCE5-3918-8B23B630C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C09EE-98E4-34C6-CED0-BF63A6255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CD7B8-BF20-5590-2D67-FC5427A60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14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2AFC3-F56E-D0CC-32B0-D7541883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D220E-BF82-2925-29F5-59C9B7C6D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84D39-276D-2D1C-13F4-7FD36C3CE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D4C8C-F7FD-43B3-8F53-DE6EC5EE1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41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4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615" y="1082040"/>
            <a:ext cx="768477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Diseño del Proyecto de Investigación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29615" y="2672477"/>
            <a:ext cx="768477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Previo a la obtención del título de: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Tecnólogo Superior en Análisis de Sistemas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9615" y="3279934"/>
            <a:ext cx="7684770" cy="2084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Diseñar un Programa de Formación Docente de la Plataforma Educativa Moodle para los Docentes de la Unidad Educativa Fiscal "Luis Fernando Vivero"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729615" y="5651897"/>
            <a:ext cx="76847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Autor: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Cabezas Estupiñán Josué Alexis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Tutor: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MSc. Julio César Suárez Dioses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9615" y="6507480"/>
            <a:ext cx="76847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Guayaquil – Ecuador2026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0962"/>
            <a:ext cx="7179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Planteamiento del Problema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93369"/>
            <a:ext cx="4196358" cy="5005268"/>
          </a:xfrm>
          <a:prstGeom prst="roundRect">
            <a:avLst>
              <a:gd name="adj" fmla="val 3486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2193369"/>
            <a:ext cx="121920" cy="5005268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245066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📌</a:t>
            </a: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Contexto Actual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142524" y="3012043"/>
            <a:ext cx="3590330" cy="269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Predominio de métodos tradicionales de enseñanza.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Bajo aprovechamiento pedagógico de las TIC.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Implementación obligatoria de plataformas digitales (COLMENA).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193369"/>
            <a:ext cx="4196358" cy="5005268"/>
          </a:xfrm>
          <a:prstGeom prst="roundRect">
            <a:avLst>
              <a:gd name="adj" fmla="val 3486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86482" y="2193369"/>
            <a:ext cx="121920" cy="5005268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65696" y="2450663"/>
            <a:ext cx="359033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⚠</a:t>
            </a: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Situación Identificada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565696" y="3437334"/>
            <a:ext cx="3590330" cy="350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Docentes con limitada formación en Moodle.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Desconocimiento de roles y funciones de la plataforma.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Brecha entre políticas educativas digitales y práctica real.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Creciente demanda educativa y limitaciones físicas.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193369"/>
            <a:ext cx="4196358" cy="5005268"/>
          </a:xfrm>
          <a:prstGeom prst="roundRect">
            <a:avLst>
              <a:gd name="adj" fmla="val 3486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9653" y="2193369"/>
            <a:ext cx="121920" cy="5005268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88868" y="245066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🎯</a:t>
            </a: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Problema Central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9988868" y="3012043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Necesidad de fortalecer las competencias digitales docentes mediante un programa estructurado de formación en Moodle.</a:t>
            </a:r>
            <a:endParaRPr lang="en-US" sz="17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40BA88C-F5DB-7EF8-612D-0A1C8F063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7566898" y="5359360"/>
            <a:ext cx="6370677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 Dependiente: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Desarrollo de competencias digitales y mejora del </a:t>
            </a:r>
            <a:r>
              <a:rPr lang="en-US" sz="15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aprendizaje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6898" y="6120884"/>
            <a:ext cx="6370677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📌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Mensaje metodológico: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Existe una relación directa entre capacitación estructurada en Moodle y fortalecimiento del desempeño docente.</a:t>
            </a:r>
            <a:endParaRPr lang="en-US" sz="15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E794645-402E-2AC8-6B5D-A70828DB60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965" y="3750314"/>
            <a:ext cx="6650541" cy="3829099"/>
          </a:xfrm>
          <a:prstGeom prst="rect">
            <a:avLst/>
          </a:prstGeom>
        </p:spPr>
      </p:pic>
      <p:sp>
        <p:nvSpPr>
          <p:cNvPr id="20" name="Shape 1">
            <a:extLst>
              <a:ext uri="{FF2B5EF4-FFF2-40B4-BE49-F238E27FC236}">
                <a16:creationId xmlns:a16="http://schemas.microsoft.com/office/drawing/2014/main" id="{08D2E055-AD60-C342-0BB0-1EFFFC8D648A}"/>
              </a:ext>
            </a:extLst>
          </p:cNvPr>
          <p:cNvSpPr/>
          <p:nvPr/>
        </p:nvSpPr>
        <p:spPr>
          <a:xfrm>
            <a:off x="532918" y="4456375"/>
            <a:ext cx="8401920" cy="2408664"/>
          </a:xfrm>
          <a:prstGeom prst="roundRect">
            <a:avLst>
              <a:gd name="adj" fmla="val 3486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00445" y="1045726"/>
            <a:ext cx="5003483" cy="62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Situación Conflicto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566898" y="4597837"/>
            <a:ext cx="6370677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5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50E7D29-9335-ACD7-DD50-B61C36FEA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832759" y="4833164"/>
            <a:ext cx="3396496" cy="37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🎯</a:t>
            </a:r>
            <a:r>
              <a:rPr lang="en-US" sz="2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Impacto del Problema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832759" y="5384900"/>
            <a:ext cx="6370677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Dificultad para implementar entornos virtuales eficientes.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Desalineación entre políticas educativas digitales y práctica docente.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Riesgo de estancamiento en competencias digitales.</a:t>
            </a:r>
            <a:endParaRPr lang="en-US" sz="155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14AB3EA4-60F3-2652-AA8F-A48E852D7DA9}"/>
              </a:ext>
            </a:extLst>
          </p:cNvPr>
          <p:cNvSpPr/>
          <p:nvPr/>
        </p:nvSpPr>
        <p:spPr>
          <a:xfrm>
            <a:off x="532918" y="1935955"/>
            <a:ext cx="8401920" cy="2408664"/>
          </a:xfrm>
          <a:prstGeom prst="roundRect">
            <a:avLst>
              <a:gd name="adj" fmla="val 3486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00445" y="2112407"/>
            <a:ext cx="3345061" cy="37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⚠</a:t>
            </a:r>
            <a:r>
              <a:rPr lang="en-US" sz="2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Realidad Institucional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700445" y="2664143"/>
            <a:ext cx="11120080" cy="161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Docentes con conocimientos limitados en Moodle y plataforma Colmena.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Predominio de metodologías tradicionales (clase magistral, tutorías convencionales).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Baja integración efectiva de TIC en el aula.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académica y documental basada en archivos físicos.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Crecimiento estudiantil y limitación de infraestructura física.</a:t>
            </a:r>
            <a:endParaRPr lang="en-US" sz="155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B31D49EB-379F-A623-7083-4745B7334F47}"/>
              </a:ext>
            </a:extLst>
          </p:cNvPr>
          <p:cNvSpPr/>
          <p:nvPr/>
        </p:nvSpPr>
        <p:spPr>
          <a:xfrm>
            <a:off x="532918" y="1824039"/>
            <a:ext cx="121920" cy="5005268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20.png" descr="Diseño de sistemas de calidad [+ PRODUCTIVIDAD] #1">
            <a:extLst>
              <a:ext uri="{FF2B5EF4-FFF2-40B4-BE49-F238E27FC236}">
                <a16:creationId xmlns:a16="http://schemas.microsoft.com/office/drawing/2014/main" id="{8664ABE1-BBFD-49A3-3CD1-E7794D59859F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9481893" y="2172925"/>
            <a:ext cx="4817195" cy="394795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39CF9-0DFD-ACA7-F999-D8BA1A7A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">
            <a:extLst>
              <a:ext uri="{FF2B5EF4-FFF2-40B4-BE49-F238E27FC236}">
                <a16:creationId xmlns:a16="http://schemas.microsoft.com/office/drawing/2014/main" id="{76406CAE-4606-16B1-BA51-820DFB368552}"/>
              </a:ext>
            </a:extLst>
          </p:cNvPr>
          <p:cNvSpPr/>
          <p:nvPr/>
        </p:nvSpPr>
        <p:spPr>
          <a:xfrm>
            <a:off x="7175085" y="2510962"/>
            <a:ext cx="7132000" cy="3631421"/>
          </a:xfrm>
          <a:prstGeom prst="roundRect">
            <a:avLst>
              <a:gd name="adj" fmla="val 3486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F060BB1A-A66B-184A-2BF6-21754FD95821}"/>
              </a:ext>
            </a:extLst>
          </p:cNvPr>
          <p:cNvSpPr/>
          <p:nvPr/>
        </p:nvSpPr>
        <p:spPr>
          <a:xfrm>
            <a:off x="669059" y="3122341"/>
            <a:ext cx="6041908" cy="2408664"/>
          </a:xfrm>
          <a:prstGeom prst="roundRect">
            <a:avLst>
              <a:gd name="adj" fmla="val 3486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0CF155C-2603-BD46-EC14-CF59004505F2}"/>
              </a:ext>
            </a:extLst>
          </p:cNvPr>
          <p:cNvSpPr/>
          <p:nvPr/>
        </p:nvSpPr>
        <p:spPr>
          <a:xfrm>
            <a:off x="700445" y="1045726"/>
            <a:ext cx="5003483" cy="62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s-E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Formulación del Problema y Variables</a:t>
            </a:r>
            <a:endParaRPr lang="en-US" sz="3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5C52769-D14B-1635-DF07-233B4376F881}"/>
              </a:ext>
            </a:extLst>
          </p:cNvPr>
          <p:cNvSpPr/>
          <p:nvPr/>
        </p:nvSpPr>
        <p:spPr>
          <a:xfrm>
            <a:off x="845410" y="3300251"/>
            <a:ext cx="3940850" cy="37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❓</a:t>
            </a:r>
            <a:r>
              <a:rPr lang="en-US" sz="2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Pregunta de Investigación</a:t>
            </a:r>
            <a:endParaRPr lang="en-US" sz="23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07B80D-8748-D4E2-39B7-C7C07EBA0F36}"/>
              </a:ext>
            </a:extLst>
          </p:cNvPr>
          <p:cNvSpPr/>
          <p:nvPr/>
        </p:nvSpPr>
        <p:spPr>
          <a:xfrm>
            <a:off x="837792" y="4023719"/>
            <a:ext cx="5704442" cy="120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¿Cómo un entorno virtual de aprendizaje basado en Moodle contribuye al desarrollo de competencias digitales de docentes y estudiantes de la Unidad Educativa Fiscal "Luis Fernando Vivero" durante el periodo 2023–2024?</a:t>
            </a:r>
            <a:endParaRPr lang="en-US" sz="15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A0C844F-AC2D-5911-060E-D87928F7E2B2}"/>
              </a:ext>
            </a:extLst>
          </p:cNvPr>
          <p:cNvSpPr/>
          <p:nvPr/>
        </p:nvSpPr>
        <p:spPr>
          <a:xfrm>
            <a:off x="7460166" y="2653961"/>
            <a:ext cx="4285774" cy="37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📊</a:t>
            </a:r>
            <a:r>
              <a:rPr lang="en-US" sz="2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Variables de la Investigación</a:t>
            </a:r>
            <a:endParaRPr lang="en-US" sz="23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3B95CE6-2EB1-5740-4729-44AC13F7AD96}"/>
              </a:ext>
            </a:extLst>
          </p:cNvPr>
          <p:cNvSpPr/>
          <p:nvPr/>
        </p:nvSpPr>
        <p:spPr>
          <a:xfrm>
            <a:off x="7555747" y="3610675"/>
            <a:ext cx="6370677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 Independiente: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Diseño de un programa de formación docente en Moodle.</a:t>
            </a:r>
            <a:endParaRPr lang="en-US" sz="15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5CB8ED7-200B-E74C-BC66-7335D22F6B85}"/>
              </a:ext>
            </a:extLst>
          </p:cNvPr>
          <p:cNvSpPr/>
          <p:nvPr/>
        </p:nvSpPr>
        <p:spPr>
          <a:xfrm>
            <a:off x="7555747" y="4372198"/>
            <a:ext cx="6370677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 Dependiente: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Desarrollo de competencias digitales y mejora del aprendizaje.</a:t>
            </a:r>
            <a:endParaRPr lang="en-US" sz="15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C238581-D0D2-2B52-0EB6-25A9072E2822}"/>
              </a:ext>
            </a:extLst>
          </p:cNvPr>
          <p:cNvSpPr/>
          <p:nvPr/>
        </p:nvSpPr>
        <p:spPr>
          <a:xfrm>
            <a:off x="7555747" y="5133722"/>
            <a:ext cx="6370677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📌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Mensaje metodológico: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Existe una relación directa entre capacitación estructurada en Moodle y fortalecimiento del desempeño docente.</a:t>
            </a:r>
            <a:endParaRPr lang="en-US" sz="15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E1216DB-B851-4CD4-4919-0EFEDCBEA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0368"/>
            <a:ext cx="72628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Objetivos de la Investigación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089309"/>
            <a:ext cx="7556421" cy="2118955"/>
          </a:xfrm>
          <a:prstGeom prst="roundRect">
            <a:avLst>
              <a:gd name="adj" fmla="val 449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14624" y="232374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🎯</a:t>
            </a: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Objetivo General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514624" y="2885123"/>
            <a:ext cx="70875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Diseñar un programa de formación docente mediante Moodle para mejorar las competencias digitales y la calidad del aprendizaje en la Unidad Educativa Fiscal "Luis Fernando Vivero".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435078"/>
            <a:ext cx="7556421" cy="2754035"/>
          </a:xfrm>
          <a:prstGeom prst="roundRect">
            <a:avLst>
              <a:gd name="adj" fmla="val 345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14624" y="4669512"/>
            <a:ext cx="377963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📌</a:t>
            </a: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Objetivos Específicos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6514624" y="523089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1️⃣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Fundamentar teóricamente los Entornos Virtuales de Aprendizaje (EVA).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514624" y="6092785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2️⃣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Diagnosticar las necesidades formativas en Moodle.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514624" y="659177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3️⃣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Diseñar un programa estructurado de capacitación docente.</a:t>
            </a:r>
            <a:endParaRPr lang="en-US" sz="175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A135093-FA03-CD11-F64E-45F70D434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38" y="1140976"/>
            <a:ext cx="9184481" cy="569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Fundamentación Teórica (Marco Conceptual)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31438" y="1768554"/>
            <a:ext cx="5138380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🧠</a:t>
            </a:r>
            <a:r>
              <a:rPr lang="en-US" sz="2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Enfoque Pedagógico (base de Moodle)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1031438" y="2329339"/>
            <a:ext cx="12567404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Constructivismo (Piaget):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 estudiante construye conocimiento al interactuar con su entorno (asimilación y acomodación).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Construccionismo: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 aprende mejor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creando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(productos, actividades, evidencias).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Construccionismo social: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 aprendizaje se fortalece con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colaboración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significado compartido (comunidad).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1438" y="3438763"/>
            <a:ext cx="5308044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🌐</a:t>
            </a:r>
            <a:r>
              <a:rPr lang="en-US" sz="2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Entornos Virtuales de Aprendizaje (EVA)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031438" y="3999548"/>
            <a:ext cx="12567404" cy="57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Moodle funciona como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 modular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gestionar cursos, recursos, interacción y evaluación en línea.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aprendizaje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personalizado, interactivo y cooperativo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1438" y="4795242"/>
            <a:ext cx="4981337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🎓</a:t>
            </a:r>
            <a:r>
              <a:rPr lang="en-US" sz="2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Pilares de Delors (educación integral)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31438" y="5356027"/>
            <a:ext cx="12567404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Aprender a conocer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hacer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convivir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1438" y="5837992"/>
            <a:ext cx="4796552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🧩</a:t>
            </a:r>
            <a:r>
              <a:rPr lang="en-US" sz="2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Soporte desde Análisis de Sistemas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031438" y="6398776"/>
            <a:ext cx="12567404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Ingeniería de software y diseño de sistemas: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calidad, </a:t>
            </a:r>
            <a:r>
              <a:rPr lang="en-US" sz="14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organización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</a:p>
          <a:p>
            <a:pPr algn="l">
              <a:lnSpc>
                <a:spcPts val="2050"/>
              </a:lnSpc>
              <a:buSzPct val="100000"/>
            </a:pPr>
            <a:r>
              <a:rPr lang="en-US" sz="14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estructura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mejora continua del sistema educativo digital.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1438" y="6959560"/>
            <a:ext cx="7220463" cy="106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Moodle no es solo una herramienta técnica; 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un entorno pedagógico constructivista orientado al aprendizaje activo y colaborativo.</a:t>
            </a:r>
            <a:endParaRPr lang="en-US" sz="1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4375C83-2D2A-1253-61A3-5FE4DB1D6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409" y="7722217"/>
            <a:ext cx="1786840" cy="506717"/>
          </a:xfrm>
          <a:prstGeom prst="rect">
            <a:avLst/>
          </a:prstGeom>
        </p:spPr>
      </p:pic>
      <p:pic>
        <p:nvPicPr>
          <p:cNvPr id="13" name="image19.png">
            <a:extLst>
              <a:ext uri="{FF2B5EF4-FFF2-40B4-BE49-F238E27FC236}">
                <a16:creationId xmlns:a16="http://schemas.microsoft.com/office/drawing/2014/main" id="{5ED0DCF3-250C-ED16-D176-3A139CEB783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2278894" y="1185277"/>
            <a:ext cx="2039271" cy="156301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5" name="image23.png" descr="Que es y para que sirve la plataforma Moodle? - Implementación y Desarrollo  Aulas Virtuales MOODLE">
            <a:extLst>
              <a:ext uri="{FF2B5EF4-FFF2-40B4-BE49-F238E27FC236}">
                <a16:creationId xmlns:a16="http://schemas.microsoft.com/office/drawing/2014/main" id="{4036130F-5179-5091-0F9F-A374356486EA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9517644" y="6239369"/>
            <a:ext cx="2039271" cy="156301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6" name="image22.png" descr="Colmena – Ministerio de Educación">
            <a:extLst>
              <a:ext uri="{FF2B5EF4-FFF2-40B4-BE49-F238E27FC236}">
                <a16:creationId xmlns:a16="http://schemas.microsoft.com/office/drawing/2014/main" id="{CE45636C-6190-8FD9-7599-B02DEC06E434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1286637" y="3144457"/>
            <a:ext cx="1748194" cy="270486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5959" y="1465659"/>
            <a:ext cx="6317933" cy="485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🟦</a:t>
            </a:r>
            <a:r>
              <a:rPr lang="en-US" sz="30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Fundamentación Legal (Ecuador)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1955959" y="2163842"/>
            <a:ext cx="5306020" cy="2123361"/>
          </a:xfrm>
          <a:prstGeom prst="roundRect">
            <a:avLst>
              <a:gd name="adj" fmla="val 3073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134076" y="2341959"/>
            <a:ext cx="4949785" cy="58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📜</a:t>
            </a: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Marco Constitucional (República del Ecuador)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34076" y="2988231"/>
            <a:ext cx="4949785" cy="1120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Art. 26: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derecho a la educación y participación de familias y sociedad.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Art. 27: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educación centrada en desarrollo humano y competencias.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Art. 347 (numerales 8 y 11):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incorporar TIC y garantizar participación activa de docentes y estudiantes.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8302" y="2163842"/>
            <a:ext cx="5306139" cy="2123361"/>
          </a:xfrm>
          <a:prstGeom prst="roundRect">
            <a:avLst>
              <a:gd name="adj" fmla="val 3073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46419" y="2341959"/>
            <a:ext cx="2503765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🏛</a:t>
            </a: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Normativa Educativa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46419" y="2697004"/>
            <a:ext cx="4949904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LOEI: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alfabetización digital e integración de TIC en el proceso educativo.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Reglamento LOEI: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diseño y uso de material didáctico (soporte a recursos digitales).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55959" y="4393525"/>
            <a:ext cx="5306020" cy="2041446"/>
          </a:xfrm>
          <a:prstGeom prst="roundRect">
            <a:avLst>
              <a:gd name="adj" fmla="val 3196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34076" y="4571643"/>
            <a:ext cx="4225528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🔐</a:t>
            </a: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Normas clave para entornos digitales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34076" y="4926687"/>
            <a:ext cx="4949785" cy="1330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Ley Orgánica de Telecomunicaciones: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acceso universal y masificación TIC (formación y uso).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Ley Orgánica de Protección de Datos Personales: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tratamiento seguro y responsable de datos estudiantiles.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Ley de Propiedad Intelectual: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respeto a derechos de autor en materiales compartidos.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68302" y="4393525"/>
            <a:ext cx="5306139" cy="2041446"/>
          </a:xfrm>
          <a:prstGeom prst="roundRect">
            <a:avLst>
              <a:gd name="adj" fmla="val 3196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46419" y="4571643"/>
            <a:ext cx="3035618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🧾</a:t>
            </a: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Política Pública Educativa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46419" y="4926687"/>
            <a:ext cx="4949904" cy="62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Acuerdo MINEDUC 2022-00038-A (Registro Oficial 191 – 17/11/2022):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instrumentos de gestión escolar (PEI, Propuesta Pedagógica, Código de Convivencia) y soporte digital.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55959" y="6554629"/>
            <a:ext cx="10718483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🎯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Mensaje estratégico: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proyecto está alineado con el marco legal ecuatoriano y con la política pública de transformación digital educativa.</a:t>
            </a:r>
            <a:endParaRPr lang="en-US" sz="12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AE9E4E9-F9D9-1ED3-C760-AEB4D973E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353" y="788977"/>
            <a:ext cx="5314712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Metodología (Diseño de investigación)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83353" y="1794958"/>
            <a:ext cx="2361652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🔎</a:t>
            </a: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Enfoque y diseño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75400" y="2401659"/>
            <a:ext cx="10585404" cy="1076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Enfoque: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Cualitativo (comprender la realidad educativa y el uso de TIC/Moodle).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 de estudio:</a:t>
            </a:r>
            <a:endParaRPr lang="en-US" sz="1600" dirty="0"/>
          </a:p>
          <a:p>
            <a:pPr marL="685800" lvl="1" indent="-342900" algn="l">
              <a:buSzPct val="100000"/>
              <a:buChar char="◦"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Descriptivo: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caracteriza la situación actual del uso/competencias en plataformas.</a:t>
            </a:r>
            <a:endParaRPr lang="en-US" sz="1600" dirty="0"/>
          </a:p>
          <a:p>
            <a:pPr marL="685800" lvl="1" indent="-342900" algn="l">
              <a:buSzPct val="100000"/>
              <a:buChar char="◦"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Correlacional: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analiza relación entre variables (formación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competencias digitales).</a:t>
            </a:r>
            <a:endParaRPr lang="en-US" sz="1600" dirty="0"/>
          </a:p>
          <a:p>
            <a:pPr marL="685800" lvl="1" indent="-342900" algn="l">
              <a:buSzPct val="100000"/>
              <a:buChar char="◦"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Explicativo: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identifica causas/efectos del problema formativo.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3353" y="4875487"/>
            <a:ext cx="3398758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🧩</a:t>
            </a: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Marco metodológico complementario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75400" y="5650577"/>
            <a:ext cx="12419275" cy="54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Metodología activa (en el sistema):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tecnologías </a:t>
            </a:r>
            <a:r>
              <a:rPr lang="en-US" sz="16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orientadas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interacción y respuesta (entornos dinámicos y participación del usuario).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5400" y="6109175"/>
            <a:ext cx="12303662" cy="534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define un diseño metodológico mixto en alcance (descriptivo–correlacional–explicativo) con enfoque cualitativo para sustentar el diagnóstico y la propuesta formativa.</a:t>
            </a:r>
            <a:endParaRPr lang="en-US" sz="16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73897FE-F616-46CE-B70B-89493B101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5CB69-9BA0-1D8A-F7E0-19AD5081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AFFA27-539B-BD8F-706B-1C643F5A4990}"/>
              </a:ext>
            </a:extLst>
          </p:cNvPr>
          <p:cNvSpPr/>
          <p:nvPr/>
        </p:nvSpPr>
        <p:spPr>
          <a:xfrm>
            <a:off x="883353" y="788977"/>
            <a:ext cx="5314712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ES" sz="3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🟦 Población, Muestra y Técnicas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C96B680-646A-F561-6B62-B008F36F1911}"/>
              </a:ext>
            </a:extLst>
          </p:cNvPr>
          <p:cNvSpPr/>
          <p:nvPr/>
        </p:nvSpPr>
        <p:spPr>
          <a:xfrm flipV="1">
            <a:off x="6586948" y="1729674"/>
            <a:ext cx="7548982" cy="5158262"/>
          </a:xfrm>
          <a:prstGeom prst="rect">
            <a:avLst/>
          </a:prstGeom>
          <a:solidFill>
            <a:srgbClr val="CFD0D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2E2EF15-DB6A-6D1C-5461-4F838DAA660A}"/>
              </a:ext>
            </a:extLst>
          </p:cNvPr>
          <p:cNvSpPr/>
          <p:nvPr/>
        </p:nvSpPr>
        <p:spPr>
          <a:xfrm>
            <a:off x="883353" y="1637761"/>
            <a:ext cx="1970484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👥</a:t>
            </a: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Población y muestra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ED2DCA5-5719-3048-15E6-FC23D6D205D7}"/>
              </a:ext>
            </a:extLst>
          </p:cNvPr>
          <p:cNvSpPr/>
          <p:nvPr/>
        </p:nvSpPr>
        <p:spPr>
          <a:xfrm>
            <a:off x="883353" y="2159225"/>
            <a:ext cx="4117538" cy="1188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Población: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85 docentes (Unidad Educativa Fiscal "Luis Fernando Vivero").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Muestra: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45 docentes</a:t>
            </a:r>
            <a:endParaRPr lang="en-US" sz="1400" dirty="0"/>
          </a:p>
          <a:p>
            <a:pPr marL="685800" lvl="1" indent="-342900" algn="l">
              <a:buSzPct val="100000"/>
              <a:buChar char="◦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Confianza: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95% (Z=1,96)</a:t>
            </a:r>
            <a:endParaRPr lang="en-US" sz="1400" dirty="0"/>
          </a:p>
          <a:p>
            <a:pPr marL="685800" lvl="1" indent="-342900" algn="l">
              <a:buSzPct val="100000"/>
              <a:buChar char="◦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10% (e=0,1)</a:t>
            </a:r>
            <a:endParaRPr lang="en-US" sz="1400" dirty="0"/>
          </a:p>
          <a:p>
            <a:pPr marL="685800" lvl="1" indent="-342900" algn="l">
              <a:buSzPct val="100000"/>
              <a:buChar char="◦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p=q: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0,5</a:t>
            </a:r>
            <a:endParaRPr lang="en-US" sz="1400" dirty="0"/>
          </a:p>
          <a:p>
            <a:pPr marL="685800" lvl="1" indent="-342900" algn="l">
              <a:buSzPct val="100000"/>
              <a:buChar char="◦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 del cálculo: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= 45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A79733-D7BA-10FC-390E-39EFA95C7196}"/>
              </a:ext>
            </a:extLst>
          </p:cNvPr>
          <p:cNvSpPr/>
          <p:nvPr/>
        </p:nvSpPr>
        <p:spPr>
          <a:xfrm>
            <a:off x="883353" y="4114800"/>
            <a:ext cx="2308979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🧰 </a:t>
            </a:r>
            <a:r>
              <a:rPr lang="en-US" sz="20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Técnicas</a:t>
            </a: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e </a:t>
            </a:r>
            <a:r>
              <a:rPr lang="en-US" sz="20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instrumentos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54B5A4-8D9F-087D-E747-8B058713188B}"/>
              </a:ext>
            </a:extLst>
          </p:cNvPr>
          <p:cNvSpPr/>
          <p:nvPr/>
        </p:nvSpPr>
        <p:spPr>
          <a:xfrm>
            <a:off x="883353" y="4586393"/>
            <a:ext cx="4117538" cy="88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Encuesta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(levantamiento de información)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Observación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(lista de verificación / escala de valoración)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documental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(fichas y ordenador)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31A0A24-10F4-EAC5-B9B6-DC8E3772D70E}"/>
              </a:ext>
            </a:extLst>
          </p:cNvPr>
          <p:cNvSpPr/>
          <p:nvPr/>
        </p:nvSpPr>
        <p:spPr>
          <a:xfrm>
            <a:off x="883353" y="5741900"/>
            <a:ext cx="297549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🧠</a:t>
            </a:r>
            <a:r>
              <a:rPr lang="en-US" sz="20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Métodos</a:t>
            </a: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de tratamiento/</a:t>
            </a:r>
            <a:r>
              <a:rPr lang="en-US" sz="20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análisis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153A454-5AFA-7AFC-D71E-ADAD54BB52CA}"/>
              </a:ext>
            </a:extLst>
          </p:cNvPr>
          <p:cNvSpPr/>
          <p:nvPr/>
        </p:nvSpPr>
        <p:spPr>
          <a:xfrm>
            <a:off x="883353" y="6245436"/>
            <a:ext cx="4117538" cy="50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Inductivo–deductivo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Analítico–sintético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Estadístico–matemático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(organización y manejo de datos)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8C52EF7-59AC-2C26-173D-2CD4BA33F12E}"/>
              </a:ext>
            </a:extLst>
          </p:cNvPr>
          <p:cNvSpPr/>
          <p:nvPr/>
        </p:nvSpPr>
        <p:spPr>
          <a:xfrm>
            <a:off x="2761430" y="7662359"/>
            <a:ext cx="8536900" cy="152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asegura validez metodológica mediante muestra calculada + triangulación de técnicas (encuesta/observación/documental).</a:t>
            </a:r>
            <a:endParaRPr lang="en-US" sz="14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AA7CE7A-66ED-FCC6-2427-A03724291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  <p:pic>
        <p:nvPicPr>
          <p:cNvPr id="18" name="image34.png">
            <a:extLst>
              <a:ext uri="{FF2B5EF4-FFF2-40B4-BE49-F238E27FC236}">
                <a16:creationId xmlns:a16="http://schemas.microsoft.com/office/drawing/2014/main" id="{3392D5E2-5A3B-1C79-B73F-5FE085D5238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741512" y="1839835"/>
            <a:ext cx="7205716" cy="484483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278992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B8C5-09A5-13A4-7186-F42D72573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">
            <a:extLst>
              <a:ext uri="{FF2B5EF4-FFF2-40B4-BE49-F238E27FC236}">
                <a16:creationId xmlns:a16="http://schemas.microsoft.com/office/drawing/2014/main" id="{B3698C2C-6240-4C11-DE27-961BAC814570}"/>
              </a:ext>
            </a:extLst>
          </p:cNvPr>
          <p:cNvSpPr/>
          <p:nvPr/>
        </p:nvSpPr>
        <p:spPr>
          <a:xfrm>
            <a:off x="1199497" y="2656831"/>
            <a:ext cx="2601642" cy="2610152"/>
          </a:xfrm>
          <a:prstGeom prst="roundRect">
            <a:avLst>
              <a:gd name="adj" fmla="val 3073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90CED3F5-A844-EAE4-2249-434A18E94FE0}"/>
              </a:ext>
            </a:extLst>
          </p:cNvPr>
          <p:cNvSpPr/>
          <p:nvPr/>
        </p:nvSpPr>
        <p:spPr>
          <a:xfrm>
            <a:off x="4169368" y="3110950"/>
            <a:ext cx="2601642" cy="2610152"/>
          </a:xfrm>
          <a:prstGeom prst="roundRect">
            <a:avLst>
              <a:gd name="adj" fmla="val 3073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3F9E5C96-B440-B98D-87E1-5449D4D26F52}"/>
              </a:ext>
            </a:extLst>
          </p:cNvPr>
          <p:cNvSpPr/>
          <p:nvPr/>
        </p:nvSpPr>
        <p:spPr>
          <a:xfrm>
            <a:off x="7268470" y="3450029"/>
            <a:ext cx="2601642" cy="2610152"/>
          </a:xfrm>
          <a:prstGeom prst="roundRect">
            <a:avLst>
              <a:gd name="adj" fmla="val 3073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AB756BEA-EF17-19E7-9A74-CC4859229EF0}"/>
              </a:ext>
            </a:extLst>
          </p:cNvPr>
          <p:cNvSpPr/>
          <p:nvPr/>
        </p:nvSpPr>
        <p:spPr>
          <a:xfrm>
            <a:off x="10241918" y="3807545"/>
            <a:ext cx="2601642" cy="2610152"/>
          </a:xfrm>
          <a:prstGeom prst="roundRect">
            <a:avLst>
              <a:gd name="adj" fmla="val 3073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F6FF778-5319-EA74-28D3-58D47CF49B4B}"/>
              </a:ext>
            </a:extLst>
          </p:cNvPr>
          <p:cNvSpPr/>
          <p:nvPr/>
        </p:nvSpPr>
        <p:spPr>
          <a:xfrm>
            <a:off x="898326" y="742256"/>
            <a:ext cx="6068973" cy="439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Resultados del Diagnóstico (Encuesta)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7D740B-C098-B80A-1F04-29413F506684}"/>
              </a:ext>
            </a:extLst>
          </p:cNvPr>
          <p:cNvSpPr/>
          <p:nvPr/>
        </p:nvSpPr>
        <p:spPr>
          <a:xfrm>
            <a:off x="898326" y="1472794"/>
            <a:ext cx="9708833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Muestra aplicada: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45 docentes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DF03C7-958B-0AE4-EDC2-432FB0171052}"/>
              </a:ext>
            </a:extLst>
          </p:cNvPr>
          <p:cNvSpPr/>
          <p:nvPr/>
        </p:nvSpPr>
        <p:spPr>
          <a:xfrm>
            <a:off x="898326" y="1753305"/>
            <a:ext cx="9708833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Hallazgos clave (respuestas "Sí" / "Importante-Muy importante"):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162A13-FC85-3E28-A122-34694C1571EF}"/>
              </a:ext>
            </a:extLst>
          </p:cNvPr>
          <p:cNvSpPr/>
          <p:nvPr/>
        </p:nvSpPr>
        <p:spPr>
          <a:xfrm>
            <a:off x="1310512" y="3171036"/>
            <a:ext cx="2345412" cy="618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4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75,6%</a:t>
            </a:r>
            <a:endParaRPr lang="en-US" sz="4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A1EDDE-7F1B-BC9F-AF41-068AA479A740}"/>
              </a:ext>
            </a:extLst>
          </p:cNvPr>
          <p:cNvSpPr/>
          <p:nvPr/>
        </p:nvSpPr>
        <p:spPr>
          <a:xfrm>
            <a:off x="1658352" y="3927498"/>
            <a:ext cx="175879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Mejora la calidad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B59C428-C2D7-E762-C5D2-8378564B31E3}"/>
              </a:ext>
            </a:extLst>
          </p:cNvPr>
          <p:cNvSpPr/>
          <p:nvPr/>
        </p:nvSpPr>
        <p:spPr>
          <a:xfrm>
            <a:off x="1365101" y="4284953"/>
            <a:ext cx="2345412" cy="54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capacitación en plataformas virtuales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la calidad de la enseñanza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72C82F2-8FCC-BC33-8E26-5CEEADAEA844}"/>
              </a:ext>
            </a:extLst>
          </p:cNvPr>
          <p:cNvSpPr/>
          <p:nvPr/>
        </p:nvSpPr>
        <p:spPr>
          <a:xfrm>
            <a:off x="4316999" y="3542408"/>
            <a:ext cx="2345412" cy="464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4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88,9%</a:t>
            </a:r>
            <a:endParaRPr lang="en-US" sz="4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15A38F4-8BB9-05D4-384A-5096636088DE}"/>
              </a:ext>
            </a:extLst>
          </p:cNvPr>
          <p:cNvSpPr/>
          <p:nvPr/>
        </p:nvSpPr>
        <p:spPr>
          <a:xfrm>
            <a:off x="4610250" y="4196237"/>
            <a:ext cx="175879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Afecta negativamente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D95710-4895-FA5D-78FA-2A9096F92AF2}"/>
              </a:ext>
            </a:extLst>
          </p:cNvPr>
          <p:cNvSpPr/>
          <p:nvPr/>
        </p:nvSpPr>
        <p:spPr>
          <a:xfrm>
            <a:off x="4316999" y="4556763"/>
            <a:ext cx="2345412" cy="54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falta de conocimientos tecnológicos docentes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afecta negativamente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 aprendizaje.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65068AD-1129-B142-A9C2-B0BD808A27A1}"/>
              </a:ext>
            </a:extLst>
          </p:cNvPr>
          <p:cNvSpPr/>
          <p:nvPr/>
        </p:nvSpPr>
        <p:spPr>
          <a:xfrm>
            <a:off x="7471522" y="3894110"/>
            <a:ext cx="2345412" cy="464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4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84,4%</a:t>
            </a:r>
            <a:endParaRPr lang="en-US" sz="4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713BAC-FE2C-FE77-1589-A4AD3ECF0F80}"/>
              </a:ext>
            </a:extLst>
          </p:cNvPr>
          <p:cNvSpPr/>
          <p:nvPr/>
        </p:nvSpPr>
        <p:spPr>
          <a:xfrm>
            <a:off x="7693454" y="4493946"/>
            <a:ext cx="1901547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Facilita la comunicación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0864478-D299-04CE-9CFE-EAF35A1202BE}"/>
              </a:ext>
            </a:extLst>
          </p:cNvPr>
          <p:cNvSpPr/>
          <p:nvPr/>
        </p:nvSpPr>
        <p:spPr>
          <a:xfrm>
            <a:off x="7471522" y="4839016"/>
            <a:ext cx="2345412" cy="54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plataformas virtuales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facilitan la comunicación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(docentes–estudiantes–familias).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C98E2F9-4623-6C98-79FA-9072CCDE9CF1}"/>
              </a:ext>
            </a:extLst>
          </p:cNvPr>
          <p:cNvSpPr/>
          <p:nvPr/>
        </p:nvSpPr>
        <p:spPr>
          <a:xfrm>
            <a:off x="10404112" y="4395088"/>
            <a:ext cx="2345412" cy="464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4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68,9%</a:t>
            </a:r>
            <a:endParaRPr lang="en-US" sz="4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EFB7545-D85A-0EB7-EBA5-E5C49E4997B7}"/>
              </a:ext>
            </a:extLst>
          </p:cNvPr>
          <p:cNvSpPr/>
          <p:nvPr/>
        </p:nvSpPr>
        <p:spPr>
          <a:xfrm>
            <a:off x="10697363" y="4994924"/>
            <a:ext cx="175879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Importante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EA681F9-CCD0-E7A4-57B3-FAB6070026C0}"/>
              </a:ext>
            </a:extLst>
          </p:cNvPr>
          <p:cNvSpPr/>
          <p:nvPr/>
        </p:nvSpPr>
        <p:spPr>
          <a:xfrm>
            <a:off x="10404112" y="5266982"/>
            <a:ext cx="2345412" cy="54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importante/</a:t>
            </a: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muy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importante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diseñar un programa formativo tecnológico.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9508890-1D74-96F0-23A3-F180FE9F5AF0}"/>
              </a:ext>
            </a:extLst>
          </p:cNvPr>
          <p:cNvSpPr/>
          <p:nvPr/>
        </p:nvSpPr>
        <p:spPr>
          <a:xfrm>
            <a:off x="2112882" y="7103394"/>
            <a:ext cx="9708833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Existe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alta disposición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r>
              <a:rPr lang="en-US" sz="16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necesidad clara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formación estructurada en Moodle.</a:t>
            </a:r>
            <a:endParaRPr lang="en-US" sz="16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5D11627-8321-85E3-2C03-72B3D3314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739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">
            <a:extLst>
              <a:ext uri="{FF2B5EF4-FFF2-40B4-BE49-F238E27FC236}">
                <a16:creationId xmlns:a16="http://schemas.microsoft.com/office/drawing/2014/main" id="{BEADC4FF-2165-E5A5-F4BF-8501D4BC953E}"/>
              </a:ext>
            </a:extLst>
          </p:cNvPr>
          <p:cNvSpPr/>
          <p:nvPr/>
        </p:nvSpPr>
        <p:spPr>
          <a:xfrm>
            <a:off x="155506" y="3737445"/>
            <a:ext cx="14133160" cy="3840964"/>
          </a:xfrm>
          <a:prstGeom prst="roundRect">
            <a:avLst>
              <a:gd name="adj" fmla="val 3073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69178" y="423840"/>
            <a:ext cx="6068973" cy="439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6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Justificación</a:t>
            </a:r>
            <a:r>
              <a:rPr lang="en-US" sz="3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del </a:t>
            </a:r>
            <a:r>
              <a:rPr lang="en-US" sz="36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Programa</a:t>
            </a:r>
            <a:endParaRPr lang="en-US" sz="3600" dirty="0">
              <a:solidFill>
                <a:srgbClr val="FFFFFF"/>
              </a:solidFill>
              <a:latin typeface="Roboto Medium" pitchFamily="34" charset="0"/>
              <a:ea typeface="Roboto Medium" pitchFamily="34" charset="-122"/>
              <a:cs typeface="Roboto Medium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-114251" y="1065450"/>
            <a:ext cx="14744651" cy="45719"/>
          </a:xfrm>
          <a:prstGeom prst="rect">
            <a:avLst/>
          </a:prstGeom>
          <a:solidFill>
            <a:srgbClr val="CFD0D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2416" y="1410891"/>
            <a:ext cx="3369112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¿Por qué es necesario el programa?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415" y="1899718"/>
            <a:ext cx="13069465" cy="1003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 institucional:</a:t>
            </a:r>
            <a:r>
              <a:rPr lang="en-US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uso de prácticas tradicionales + dificultades docentes con Colmena por falta de capacitación tecnológica.</a:t>
            </a:r>
            <a:endParaRPr lang="en-US" dirty="0"/>
          </a:p>
          <a:p>
            <a:pPr marL="342900" indent="-342900" algn="l">
              <a:buSzPct val="100000"/>
              <a:buChar char="•"/>
            </a:pPr>
            <a:r>
              <a:rPr lang="en-US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Necesidad educativa:</a:t>
            </a:r>
            <a:r>
              <a:rPr lang="en-US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modernizar la enseñanza con TIC y entornos virtuales (Moodle como soporte).</a:t>
            </a:r>
            <a:endParaRPr lang="en-US" dirty="0"/>
          </a:p>
          <a:p>
            <a:pPr marL="342900" indent="-342900" algn="l">
              <a:buSzPct val="100000"/>
              <a:buChar char="•"/>
            </a:pPr>
            <a:r>
              <a:rPr lang="en-US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Eficiencia y organización:</a:t>
            </a:r>
            <a:r>
              <a:rPr lang="en-US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reducir carga operativa y mejorar gestión de recursos/actividades académicas.</a:t>
            </a:r>
            <a:endParaRPr lang="en-US" dirty="0"/>
          </a:p>
          <a:p>
            <a:pPr marL="342900" indent="-342900" algn="l">
              <a:buSzPct val="100000"/>
              <a:buChar char="•"/>
            </a:pPr>
            <a:r>
              <a:rPr lang="en-US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Alineación normativa:</a:t>
            </a:r>
            <a:r>
              <a:rPr lang="en-US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marco legal impulsa alfabetización digital, uso de TIC y participación educativa (Constitución/LOEI/telecomunicaciones y normativa asociada).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60784" y="7780321"/>
            <a:ext cx="9708833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programa es la respuesta directa a la </a:t>
            </a:r>
            <a:r>
              <a:rPr lang="en-US" sz="14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brecha de competencias digitales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detectada y al reto de la transformación educativa.</a:t>
            </a:r>
            <a:endParaRPr lang="en-US" sz="14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D74AC91E-FA75-5BEB-E650-E27ACF7ED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  <p:pic>
        <p:nvPicPr>
          <p:cNvPr id="24" name="image7.png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8EE2C3F3-D4FD-1D54-A9E8-E93E7DC78326}"/>
              </a:ext>
            </a:extLst>
          </p:cNvPr>
          <p:cNvPicPr/>
          <p:nvPr/>
        </p:nvPicPr>
        <p:blipFill>
          <a:blip r:embed="rId4"/>
          <a:srcRect l="25016" r="21344"/>
          <a:stretch>
            <a:fillRect/>
          </a:stretch>
        </p:blipFill>
        <p:spPr>
          <a:xfrm>
            <a:off x="341734" y="3892682"/>
            <a:ext cx="3411329" cy="1528244"/>
          </a:xfrm>
          <a:prstGeom prst="rect">
            <a:avLst/>
          </a:prstGeom>
          <a:ln/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4004FEF-E71F-3319-84F9-84E5C7445FE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34" y="5635303"/>
            <a:ext cx="3411329" cy="184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Imagen 27" descr="Interfaz de usuario gráfica, Aplicación, Sitio web&#10;&#10;El contenido generado por IA puede ser incorrecto.">
            <a:extLst>
              <a:ext uri="{FF2B5EF4-FFF2-40B4-BE49-F238E27FC236}">
                <a16:creationId xmlns:a16="http://schemas.microsoft.com/office/drawing/2014/main" id="{51311EA8-599C-681C-2A54-E474C7D7D45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291" y="3897899"/>
            <a:ext cx="3587605" cy="1523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4E705347-C003-1F79-C5E2-AA68D4B1EC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291" y="5657927"/>
            <a:ext cx="3587605" cy="1823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45C61487-0C70-7C61-F25F-EB599AB78DC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888" y="3897899"/>
            <a:ext cx="3536566" cy="1528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CD9E0578-C523-CF7F-F598-75F31D3213E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886" y="5650678"/>
            <a:ext cx="3536567" cy="1829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129ABBB8-2D3D-B754-C548-901DF54C42F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6444" y="4767939"/>
            <a:ext cx="2494231" cy="152302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Flecha: hacia abajo 42">
            <a:extLst>
              <a:ext uri="{FF2B5EF4-FFF2-40B4-BE49-F238E27FC236}">
                <a16:creationId xmlns:a16="http://schemas.microsoft.com/office/drawing/2014/main" id="{74A20E67-1E45-A2EE-E996-2DBE6B6E267D}"/>
              </a:ext>
            </a:extLst>
          </p:cNvPr>
          <p:cNvSpPr/>
          <p:nvPr/>
        </p:nvSpPr>
        <p:spPr>
          <a:xfrm>
            <a:off x="1791087" y="5370034"/>
            <a:ext cx="338893" cy="37027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echa: a la derecha 43">
            <a:extLst>
              <a:ext uri="{FF2B5EF4-FFF2-40B4-BE49-F238E27FC236}">
                <a16:creationId xmlns:a16="http://schemas.microsoft.com/office/drawing/2014/main" id="{B9A06572-DC4C-5647-6894-CFC85468A63B}"/>
              </a:ext>
            </a:extLst>
          </p:cNvPr>
          <p:cNvSpPr/>
          <p:nvPr/>
        </p:nvSpPr>
        <p:spPr>
          <a:xfrm rot="18888735">
            <a:off x="3654303" y="5302465"/>
            <a:ext cx="520749" cy="37122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echa: a la derecha 44">
            <a:extLst>
              <a:ext uri="{FF2B5EF4-FFF2-40B4-BE49-F238E27FC236}">
                <a16:creationId xmlns:a16="http://schemas.microsoft.com/office/drawing/2014/main" id="{8B7FEE7F-D191-4A34-491B-B534F1C2140C}"/>
              </a:ext>
            </a:extLst>
          </p:cNvPr>
          <p:cNvSpPr/>
          <p:nvPr/>
        </p:nvSpPr>
        <p:spPr>
          <a:xfrm rot="5400000">
            <a:off x="5731997" y="5422084"/>
            <a:ext cx="429765" cy="37122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echa: a la derecha 45">
            <a:extLst>
              <a:ext uri="{FF2B5EF4-FFF2-40B4-BE49-F238E27FC236}">
                <a16:creationId xmlns:a16="http://schemas.microsoft.com/office/drawing/2014/main" id="{3A27A2DC-310C-44DA-34F8-8D81BBF89751}"/>
              </a:ext>
            </a:extLst>
          </p:cNvPr>
          <p:cNvSpPr/>
          <p:nvPr/>
        </p:nvSpPr>
        <p:spPr>
          <a:xfrm rot="19140849">
            <a:off x="7595010" y="5301641"/>
            <a:ext cx="429765" cy="37122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echa: a la derecha 46">
            <a:extLst>
              <a:ext uri="{FF2B5EF4-FFF2-40B4-BE49-F238E27FC236}">
                <a16:creationId xmlns:a16="http://schemas.microsoft.com/office/drawing/2014/main" id="{8C8650C5-4047-932B-74CE-6D7980C17170}"/>
              </a:ext>
            </a:extLst>
          </p:cNvPr>
          <p:cNvSpPr/>
          <p:nvPr/>
        </p:nvSpPr>
        <p:spPr>
          <a:xfrm rot="5400000">
            <a:off x="9415286" y="5369794"/>
            <a:ext cx="429765" cy="37122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echa: a la derecha 47">
            <a:extLst>
              <a:ext uri="{FF2B5EF4-FFF2-40B4-BE49-F238E27FC236}">
                <a16:creationId xmlns:a16="http://schemas.microsoft.com/office/drawing/2014/main" id="{CFB83FFB-28D8-5C69-282A-20B349853D59}"/>
              </a:ext>
            </a:extLst>
          </p:cNvPr>
          <p:cNvSpPr/>
          <p:nvPr/>
        </p:nvSpPr>
        <p:spPr>
          <a:xfrm>
            <a:off x="11282566" y="5698640"/>
            <a:ext cx="429765" cy="37122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894FC-C845-B991-478B-253251E58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">
            <a:extLst>
              <a:ext uri="{FF2B5EF4-FFF2-40B4-BE49-F238E27FC236}">
                <a16:creationId xmlns:a16="http://schemas.microsoft.com/office/drawing/2014/main" id="{A508A864-9D04-8000-0191-59C7939C4CFF}"/>
              </a:ext>
            </a:extLst>
          </p:cNvPr>
          <p:cNvSpPr/>
          <p:nvPr/>
        </p:nvSpPr>
        <p:spPr>
          <a:xfrm>
            <a:off x="11744424" y="6505059"/>
            <a:ext cx="2661022" cy="1574011"/>
          </a:xfrm>
          <a:prstGeom prst="roundRect">
            <a:avLst>
              <a:gd name="adj" fmla="val 5164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318A5DE2-91DB-0C87-6004-B885D5262A16}"/>
              </a:ext>
            </a:extLst>
          </p:cNvPr>
          <p:cNvSpPr/>
          <p:nvPr/>
        </p:nvSpPr>
        <p:spPr>
          <a:xfrm>
            <a:off x="9956079" y="1129190"/>
            <a:ext cx="4416435" cy="1932505"/>
          </a:xfrm>
          <a:prstGeom prst="roundRect">
            <a:avLst>
              <a:gd name="adj" fmla="val 3073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605126B-B44C-F875-4C65-C87C02012DB5}"/>
              </a:ext>
            </a:extLst>
          </p:cNvPr>
          <p:cNvSpPr/>
          <p:nvPr/>
        </p:nvSpPr>
        <p:spPr>
          <a:xfrm>
            <a:off x="598208" y="426028"/>
            <a:ext cx="4752261" cy="56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Diseño del Programa de Capacitación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5F58F9-09FF-BC9F-2C2F-993E7D48602A}"/>
              </a:ext>
            </a:extLst>
          </p:cNvPr>
          <p:cNvSpPr/>
          <p:nvPr/>
        </p:nvSpPr>
        <p:spPr>
          <a:xfrm>
            <a:off x="571407" y="993102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 del programa: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Fortalecer las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competencias digitales docentes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con enfoque </a:t>
            </a: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pedagógico y técnico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Moodle.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C62DB5-EFD3-3CBD-953A-7786D489BB9A}"/>
              </a:ext>
            </a:extLst>
          </p:cNvPr>
          <p:cNvSpPr/>
          <p:nvPr/>
        </p:nvSpPr>
        <p:spPr>
          <a:xfrm>
            <a:off x="759059" y="1340094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Modalidad: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Mixta (presencial + virtual)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5AA0A51-DB9A-9E3A-4247-BF2BC254E472}"/>
              </a:ext>
            </a:extLst>
          </p:cNvPr>
          <p:cNvSpPr/>
          <p:nvPr/>
        </p:nvSpPr>
        <p:spPr>
          <a:xfrm>
            <a:off x="1036045" y="1774318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Duración: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semanas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(cronograma de capacitación)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819516-14AC-F8A2-E726-ABD39670FB38}"/>
              </a:ext>
            </a:extLst>
          </p:cNvPr>
          <p:cNvSpPr/>
          <p:nvPr/>
        </p:nvSpPr>
        <p:spPr>
          <a:xfrm>
            <a:off x="240037" y="4074612"/>
            <a:ext cx="1738193" cy="22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Metodología</a:t>
            </a: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didáctica: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8574DF-159F-4D3C-07BA-E217C9751986}"/>
              </a:ext>
            </a:extLst>
          </p:cNvPr>
          <p:cNvSpPr/>
          <p:nvPr/>
        </p:nvSpPr>
        <p:spPr>
          <a:xfrm>
            <a:off x="287225" y="4497491"/>
            <a:ext cx="3327104" cy="652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Aprendizaje basado en la práctica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Foros colaborativos y reflexivos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formativa (tareas, cuestionarios, retroalimentación)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Talleres prácticos guiados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79CD826-10EC-F1A6-EEF8-10A913AD3BA6}"/>
              </a:ext>
            </a:extLst>
          </p:cNvPr>
          <p:cNvSpPr/>
          <p:nvPr/>
        </p:nvSpPr>
        <p:spPr>
          <a:xfrm>
            <a:off x="239821" y="5832349"/>
            <a:ext cx="1790105" cy="22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Estructura (5 módulos):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F39DCAB-AD8D-5F1C-D572-B8F3E3F7302C}"/>
              </a:ext>
            </a:extLst>
          </p:cNvPr>
          <p:cNvSpPr/>
          <p:nvPr/>
        </p:nvSpPr>
        <p:spPr>
          <a:xfrm>
            <a:off x="1709131" y="6334749"/>
            <a:ext cx="6017657" cy="14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Enfoque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F5A8168-74E3-05A7-7437-6387180BE093}"/>
              </a:ext>
            </a:extLst>
          </p:cNvPr>
          <p:cNvSpPr/>
          <p:nvPr/>
        </p:nvSpPr>
        <p:spPr>
          <a:xfrm>
            <a:off x="319572" y="7060388"/>
            <a:ext cx="7810262" cy="2368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DA05477-B573-F4D3-03E7-07CB2F6C709C}"/>
              </a:ext>
            </a:extLst>
          </p:cNvPr>
          <p:cNvSpPr/>
          <p:nvPr/>
        </p:nvSpPr>
        <p:spPr>
          <a:xfrm>
            <a:off x="0" y="7534132"/>
            <a:ext cx="7810262" cy="2368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3600"/>
          </a:p>
        </p:txBody>
      </p:sp>
      <p:grpSp>
        <p:nvGrpSpPr>
          <p:cNvPr id="79" name="Grupo 78">
            <a:extLst>
              <a:ext uri="{FF2B5EF4-FFF2-40B4-BE49-F238E27FC236}">
                <a16:creationId xmlns:a16="http://schemas.microsoft.com/office/drawing/2014/main" id="{3AC7DE6C-A14F-4422-7C81-5E972A6790B4}"/>
              </a:ext>
            </a:extLst>
          </p:cNvPr>
          <p:cNvGrpSpPr/>
          <p:nvPr/>
        </p:nvGrpSpPr>
        <p:grpSpPr>
          <a:xfrm>
            <a:off x="318266" y="6262225"/>
            <a:ext cx="3223606" cy="1541347"/>
            <a:chOff x="294470" y="6341538"/>
            <a:chExt cx="4007899" cy="1437700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F327140C-1EB4-D9EE-3245-998855C832F2}"/>
                </a:ext>
              </a:extLst>
            </p:cNvPr>
            <p:cNvSpPr/>
            <p:nvPr/>
          </p:nvSpPr>
          <p:spPr>
            <a:xfrm>
              <a:off x="311952" y="6341538"/>
              <a:ext cx="3990417" cy="1437700"/>
            </a:xfrm>
            <a:prstGeom prst="roundRect">
              <a:avLst>
                <a:gd name="adj" fmla="val 3580"/>
              </a:avLst>
            </a:prstGeom>
            <a:noFill/>
            <a:ln w="7620">
              <a:solidFill>
                <a:srgbClr val="FFFFFF">
                  <a:alpha val="24000"/>
                </a:srgbClr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00D1F123-9B99-61B6-C54F-FA19B891E607}"/>
                </a:ext>
              </a:extLst>
            </p:cNvPr>
            <p:cNvSpPr/>
            <p:nvPr/>
          </p:nvSpPr>
          <p:spPr>
            <a:xfrm>
              <a:off x="294470" y="6385569"/>
              <a:ext cx="1061908" cy="201078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en-US" sz="36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AEE5CBED-D1C7-C17C-2962-356ACDEB20FE}"/>
                </a:ext>
              </a:extLst>
            </p:cNvPr>
            <p:cNvSpPr/>
            <p:nvPr/>
          </p:nvSpPr>
          <p:spPr>
            <a:xfrm>
              <a:off x="433039" y="6394677"/>
              <a:ext cx="1331476" cy="1470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200" b="1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Módulo</a:t>
              </a:r>
              <a:endParaRPr lang="en-US" sz="12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FC326DE2-4389-297D-7CB0-9D51D2672344}"/>
                </a:ext>
              </a:extLst>
            </p:cNvPr>
            <p:cNvSpPr/>
            <p:nvPr/>
          </p:nvSpPr>
          <p:spPr>
            <a:xfrm>
              <a:off x="433039" y="6631549"/>
              <a:ext cx="1331476" cy="1470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20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3D80FFD7-2ADA-8E0B-7E12-7E700255ADCF}"/>
                </a:ext>
              </a:extLst>
            </p:cNvPr>
            <p:cNvSpPr/>
            <p:nvPr/>
          </p:nvSpPr>
          <p:spPr>
            <a:xfrm>
              <a:off x="1356378" y="6610192"/>
              <a:ext cx="2109153" cy="1470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20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Introducción a Moodle</a:t>
              </a:r>
              <a:endParaRPr lang="en-US" sz="12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2DAB0653-ADF4-3316-3C0C-550778D1CC95}"/>
                </a:ext>
              </a:extLst>
            </p:cNvPr>
            <p:cNvSpPr/>
            <p:nvPr/>
          </p:nvSpPr>
          <p:spPr>
            <a:xfrm>
              <a:off x="294470" y="6823516"/>
              <a:ext cx="4007899" cy="236872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3DE857F1-D00F-A0B0-47FC-A5787B9F4AB6}"/>
                </a:ext>
              </a:extLst>
            </p:cNvPr>
            <p:cNvSpPr/>
            <p:nvPr/>
          </p:nvSpPr>
          <p:spPr>
            <a:xfrm>
              <a:off x="433039" y="6868421"/>
              <a:ext cx="1331476" cy="1470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20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D78F4B2B-873A-1A00-18CE-3457CE1FC495}"/>
                </a:ext>
              </a:extLst>
            </p:cNvPr>
            <p:cNvSpPr/>
            <p:nvPr/>
          </p:nvSpPr>
          <p:spPr>
            <a:xfrm>
              <a:off x="1356378" y="6847064"/>
              <a:ext cx="2109153" cy="1470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20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Creación de cursos</a:t>
              </a:r>
              <a:endParaRPr lang="en-US" sz="12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2334DF3B-0795-C1C0-9D44-4D0C2639AE4F}"/>
                </a:ext>
              </a:extLst>
            </p:cNvPr>
            <p:cNvSpPr/>
            <p:nvPr/>
          </p:nvSpPr>
          <p:spPr>
            <a:xfrm>
              <a:off x="433039" y="7105292"/>
              <a:ext cx="1331476" cy="1470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20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</a:t>
              </a:r>
              <a:endParaRPr lang="en-US" sz="120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0FE25591-5628-C0D6-03A2-052833DAC872}"/>
                </a:ext>
              </a:extLst>
            </p:cNvPr>
            <p:cNvSpPr/>
            <p:nvPr/>
          </p:nvSpPr>
          <p:spPr>
            <a:xfrm>
              <a:off x="1356378" y="7083935"/>
              <a:ext cx="2109153" cy="1470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20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Recursos digitales</a:t>
              </a:r>
              <a:endParaRPr lang="en-US" sz="1200" dirty="0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3FE3161B-3DB9-63FF-3CBD-C9CC36A0EA6C}"/>
                </a:ext>
              </a:extLst>
            </p:cNvPr>
            <p:cNvSpPr/>
            <p:nvPr/>
          </p:nvSpPr>
          <p:spPr>
            <a:xfrm>
              <a:off x="294470" y="7297260"/>
              <a:ext cx="4007899" cy="236872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C0270F85-C90F-E3CB-4D65-E0B52CDF1040}"/>
                </a:ext>
              </a:extLst>
            </p:cNvPr>
            <p:cNvSpPr/>
            <p:nvPr/>
          </p:nvSpPr>
          <p:spPr>
            <a:xfrm>
              <a:off x="433039" y="7342164"/>
              <a:ext cx="1331476" cy="1470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20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4</a:t>
              </a:r>
              <a:endParaRPr lang="en-US" sz="12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7DA69D64-A903-8A1D-C72A-FF526E9A5B73}"/>
                </a:ext>
              </a:extLst>
            </p:cNvPr>
            <p:cNvSpPr/>
            <p:nvPr/>
          </p:nvSpPr>
          <p:spPr>
            <a:xfrm>
              <a:off x="1362786" y="7320340"/>
              <a:ext cx="1946284" cy="1470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20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Evaluación y retroalimentación</a:t>
              </a:r>
              <a:endParaRPr lang="en-US" sz="120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9A6C94B9-8E90-D396-1A4D-1AC8E15DB6F2}"/>
                </a:ext>
              </a:extLst>
            </p:cNvPr>
            <p:cNvSpPr/>
            <p:nvPr/>
          </p:nvSpPr>
          <p:spPr>
            <a:xfrm>
              <a:off x="433039" y="7579036"/>
              <a:ext cx="1331476" cy="1470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20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5</a:t>
              </a:r>
              <a:endParaRPr lang="en-US" sz="12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F40C510A-FF93-2593-6D36-410BB790FFAB}"/>
                </a:ext>
              </a:extLst>
            </p:cNvPr>
            <p:cNvSpPr/>
            <p:nvPr/>
          </p:nvSpPr>
          <p:spPr>
            <a:xfrm>
              <a:off x="1356378" y="7557679"/>
              <a:ext cx="2109153" cy="1470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20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Seguridad y ética digital</a:t>
              </a:r>
              <a:endParaRPr lang="en-US" sz="1200" dirty="0"/>
            </a:p>
          </p:txBody>
        </p:sp>
      </p:grpSp>
      <p:pic>
        <p:nvPicPr>
          <p:cNvPr id="38" name="Imagen 37">
            <a:extLst>
              <a:ext uri="{FF2B5EF4-FFF2-40B4-BE49-F238E27FC236}">
                <a16:creationId xmlns:a16="http://schemas.microsoft.com/office/drawing/2014/main" id="{035A244A-CB07-70C8-0EB2-C3DF31E3C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5AEEAF1B-121A-9414-3348-AEA8569C2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9839" y="1252687"/>
            <a:ext cx="4229868" cy="1687160"/>
          </a:xfrm>
          <a:prstGeom prst="rect">
            <a:avLst/>
          </a:prstGeom>
        </p:spPr>
      </p:pic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BE2850F4-9F20-713E-6004-EDE6F637FCDA}"/>
              </a:ext>
            </a:extLst>
          </p:cNvPr>
          <p:cNvCxnSpPr>
            <a:cxnSpLocks/>
          </p:cNvCxnSpPr>
          <p:nvPr/>
        </p:nvCxnSpPr>
        <p:spPr>
          <a:xfrm>
            <a:off x="5126013" y="1842362"/>
            <a:ext cx="47620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Text 3">
            <a:extLst>
              <a:ext uri="{FF2B5EF4-FFF2-40B4-BE49-F238E27FC236}">
                <a16:creationId xmlns:a16="http://schemas.microsoft.com/office/drawing/2014/main" id="{92686E2E-FFD3-1436-5510-4397525986C8}"/>
              </a:ext>
            </a:extLst>
          </p:cNvPr>
          <p:cNvSpPr/>
          <p:nvPr/>
        </p:nvSpPr>
        <p:spPr>
          <a:xfrm>
            <a:off x="759059" y="2670582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Recursos: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Humanos y </a:t>
            </a:r>
            <a:r>
              <a:rPr lang="en-US" sz="1400" b="1" dirty="0" err="1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Técnicos</a:t>
            </a:r>
            <a:endParaRPr lang="en-US" sz="1400" dirty="0"/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38E0C8FD-EA2C-8C31-3C9C-555BD47DF924}"/>
              </a:ext>
            </a:extLst>
          </p:cNvPr>
          <p:cNvGrpSpPr/>
          <p:nvPr/>
        </p:nvGrpSpPr>
        <p:grpSpPr>
          <a:xfrm>
            <a:off x="3460589" y="2109134"/>
            <a:ext cx="3118339" cy="1452698"/>
            <a:chOff x="316523" y="2942492"/>
            <a:chExt cx="3118339" cy="2110154"/>
          </a:xfrm>
        </p:grpSpPr>
        <p:sp>
          <p:nvSpPr>
            <p:cNvPr id="54" name="Shape 1">
              <a:extLst>
                <a:ext uri="{FF2B5EF4-FFF2-40B4-BE49-F238E27FC236}">
                  <a16:creationId xmlns:a16="http://schemas.microsoft.com/office/drawing/2014/main" id="{98F7A63C-3A38-8CF7-0A7A-1913AB0F527A}"/>
                </a:ext>
              </a:extLst>
            </p:cNvPr>
            <p:cNvSpPr/>
            <p:nvPr/>
          </p:nvSpPr>
          <p:spPr>
            <a:xfrm>
              <a:off x="316523" y="2942492"/>
              <a:ext cx="3118339" cy="2110154"/>
            </a:xfrm>
            <a:prstGeom prst="roundRect">
              <a:avLst>
                <a:gd name="adj" fmla="val 3073"/>
              </a:avLst>
            </a:prstGeom>
            <a:solidFill>
              <a:srgbClr val="000018">
                <a:alpha val="95000"/>
              </a:srgbClr>
            </a:solidFill>
            <a:ln w="22860">
              <a:solidFill>
                <a:srgbClr val="313E8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B3B3B18D-5E10-946B-5CC1-77FCA8560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0282" y="3117519"/>
              <a:ext cx="2916647" cy="1768804"/>
            </a:xfrm>
            <a:prstGeom prst="rect">
              <a:avLst/>
            </a:prstGeom>
          </p:spPr>
        </p:pic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5FC05747-0398-A4BD-2672-128927F0B8B5}"/>
              </a:ext>
            </a:extLst>
          </p:cNvPr>
          <p:cNvGrpSpPr/>
          <p:nvPr/>
        </p:nvGrpSpPr>
        <p:grpSpPr>
          <a:xfrm>
            <a:off x="6661736" y="2102282"/>
            <a:ext cx="3050098" cy="1452698"/>
            <a:chOff x="3582478" y="2786709"/>
            <a:chExt cx="2888659" cy="2121461"/>
          </a:xfrm>
        </p:grpSpPr>
        <p:sp>
          <p:nvSpPr>
            <p:cNvPr id="63" name="Shape 1">
              <a:extLst>
                <a:ext uri="{FF2B5EF4-FFF2-40B4-BE49-F238E27FC236}">
                  <a16:creationId xmlns:a16="http://schemas.microsoft.com/office/drawing/2014/main" id="{56027ED3-7D3A-7F32-A133-217BCA13E47E}"/>
                </a:ext>
              </a:extLst>
            </p:cNvPr>
            <p:cNvSpPr/>
            <p:nvPr/>
          </p:nvSpPr>
          <p:spPr>
            <a:xfrm>
              <a:off x="3582478" y="2786709"/>
              <a:ext cx="2888659" cy="2121461"/>
            </a:xfrm>
            <a:prstGeom prst="roundRect">
              <a:avLst>
                <a:gd name="adj" fmla="val 3073"/>
              </a:avLst>
            </a:prstGeom>
            <a:solidFill>
              <a:srgbClr val="000018">
                <a:alpha val="95000"/>
              </a:srgbClr>
            </a:solidFill>
            <a:ln w="22860">
              <a:solidFill>
                <a:srgbClr val="313E8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59" name="Imagen 58">
              <a:extLst>
                <a:ext uri="{FF2B5EF4-FFF2-40B4-BE49-F238E27FC236}">
                  <a16:creationId xmlns:a16="http://schemas.microsoft.com/office/drawing/2014/main" id="{5D19780B-C2F2-D149-4AF5-C60075838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94054" y="2973043"/>
              <a:ext cx="2665506" cy="1768804"/>
            </a:xfrm>
            <a:prstGeom prst="rect">
              <a:avLst/>
            </a:prstGeom>
          </p:spPr>
        </p:pic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E7F14E35-DAD8-36FD-3EB0-59E5F17A122F}"/>
              </a:ext>
            </a:extLst>
          </p:cNvPr>
          <p:cNvGrpSpPr/>
          <p:nvPr/>
        </p:nvGrpSpPr>
        <p:grpSpPr>
          <a:xfrm>
            <a:off x="3460589" y="3916221"/>
            <a:ext cx="6808841" cy="969226"/>
            <a:chOff x="7665054" y="4343481"/>
            <a:chExt cx="5324115" cy="1757482"/>
          </a:xfrm>
        </p:grpSpPr>
        <p:sp>
          <p:nvSpPr>
            <p:cNvPr id="77" name="Shape 1">
              <a:extLst>
                <a:ext uri="{FF2B5EF4-FFF2-40B4-BE49-F238E27FC236}">
                  <a16:creationId xmlns:a16="http://schemas.microsoft.com/office/drawing/2014/main" id="{1B9BE763-96B6-383F-9713-1D18444929B0}"/>
                </a:ext>
              </a:extLst>
            </p:cNvPr>
            <p:cNvSpPr/>
            <p:nvPr/>
          </p:nvSpPr>
          <p:spPr>
            <a:xfrm>
              <a:off x="7665054" y="4343481"/>
              <a:ext cx="5324115" cy="1757482"/>
            </a:xfrm>
            <a:prstGeom prst="roundRect">
              <a:avLst>
                <a:gd name="adj" fmla="val 3073"/>
              </a:avLst>
            </a:prstGeom>
            <a:solidFill>
              <a:srgbClr val="000018">
                <a:alpha val="95000"/>
              </a:srgbClr>
            </a:solidFill>
            <a:ln w="22860">
              <a:solidFill>
                <a:srgbClr val="313E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5" name="image35.png">
              <a:extLst>
                <a:ext uri="{FF2B5EF4-FFF2-40B4-BE49-F238E27FC236}">
                  <a16:creationId xmlns:a16="http://schemas.microsoft.com/office/drawing/2014/main" id="{AD3662E5-D077-02A8-850F-AFB8746CAF7A}"/>
                </a:ext>
              </a:extLst>
            </p:cNvPr>
            <p:cNvPicPr/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7793089" y="4580129"/>
              <a:ext cx="5039995" cy="1335405"/>
            </a:xfrm>
            <a:prstGeom prst="rect">
              <a:avLst/>
            </a:prstGeom>
            <a:ln/>
          </p:spPr>
        </p:pic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9C3A7BB9-17EB-3A8D-CE6F-EDE5F2AC2220}"/>
              </a:ext>
            </a:extLst>
          </p:cNvPr>
          <p:cNvGrpSpPr/>
          <p:nvPr/>
        </p:nvGrpSpPr>
        <p:grpSpPr>
          <a:xfrm>
            <a:off x="3732733" y="4986134"/>
            <a:ext cx="6808841" cy="642664"/>
            <a:chOff x="7033534" y="5196506"/>
            <a:chExt cx="6445410" cy="642664"/>
          </a:xfrm>
        </p:grpSpPr>
        <p:sp>
          <p:nvSpPr>
            <p:cNvPr id="83" name="Shape 1">
              <a:extLst>
                <a:ext uri="{FF2B5EF4-FFF2-40B4-BE49-F238E27FC236}">
                  <a16:creationId xmlns:a16="http://schemas.microsoft.com/office/drawing/2014/main" id="{3D43107D-740D-8598-70D4-6AA6A52B18FC}"/>
                </a:ext>
              </a:extLst>
            </p:cNvPr>
            <p:cNvSpPr/>
            <p:nvPr/>
          </p:nvSpPr>
          <p:spPr>
            <a:xfrm>
              <a:off x="7033534" y="5196506"/>
              <a:ext cx="6445410" cy="642664"/>
            </a:xfrm>
            <a:prstGeom prst="roundRect">
              <a:avLst>
                <a:gd name="adj" fmla="val 3073"/>
              </a:avLst>
            </a:prstGeom>
            <a:solidFill>
              <a:srgbClr val="000018">
                <a:alpha val="95000"/>
              </a:srgbClr>
            </a:solidFill>
            <a:ln w="22860">
              <a:solidFill>
                <a:srgbClr val="313E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0" name="image8.png">
              <a:extLst>
                <a:ext uri="{FF2B5EF4-FFF2-40B4-BE49-F238E27FC236}">
                  <a16:creationId xmlns:a16="http://schemas.microsoft.com/office/drawing/2014/main" id="{53D73796-FB22-EB1D-2108-36C3BF6322BC}"/>
                </a:ext>
              </a:extLst>
            </p:cNvPr>
            <p:cNvPicPr/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7156901" y="5271213"/>
              <a:ext cx="6189748" cy="472748"/>
            </a:xfrm>
            <a:prstGeom prst="rect">
              <a:avLst/>
            </a:prstGeom>
            <a:ln/>
          </p:spPr>
        </p:pic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AFCE4BC0-E404-2B7C-BA71-91D6A9169DA7}"/>
              </a:ext>
            </a:extLst>
          </p:cNvPr>
          <p:cNvGrpSpPr/>
          <p:nvPr/>
        </p:nvGrpSpPr>
        <p:grpSpPr>
          <a:xfrm>
            <a:off x="3953657" y="5701829"/>
            <a:ext cx="6820394" cy="937699"/>
            <a:chOff x="9504640" y="6507218"/>
            <a:chExt cx="5012728" cy="1298290"/>
          </a:xfrm>
        </p:grpSpPr>
        <p:sp>
          <p:nvSpPr>
            <p:cNvPr id="84" name="Shape 1">
              <a:extLst>
                <a:ext uri="{FF2B5EF4-FFF2-40B4-BE49-F238E27FC236}">
                  <a16:creationId xmlns:a16="http://schemas.microsoft.com/office/drawing/2014/main" id="{991D15BA-6FD1-53E6-3683-2C536893B1EB}"/>
                </a:ext>
              </a:extLst>
            </p:cNvPr>
            <p:cNvSpPr/>
            <p:nvPr/>
          </p:nvSpPr>
          <p:spPr>
            <a:xfrm>
              <a:off x="9504640" y="6507218"/>
              <a:ext cx="5012728" cy="1298290"/>
            </a:xfrm>
            <a:prstGeom prst="roundRect">
              <a:avLst>
                <a:gd name="adj" fmla="val 3073"/>
              </a:avLst>
            </a:prstGeom>
            <a:solidFill>
              <a:srgbClr val="000018">
                <a:alpha val="95000"/>
              </a:srgbClr>
            </a:solidFill>
            <a:ln w="22860">
              <a:solidFill>
                <a:srgbClr val="313E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1" name="image10.png" descr="Diagrama&#10;&#10;El contenido generado por IA puede ser incorrecto.">
              <a:extLst>
                <a:ext uri="{FF2B5EF4-FFF2-40B4-BE49-F238E27FC236}">
                  <a16:creationId xmlns:a16="http://schemas.microsoft.com/office/drawing/2014/main" id="{16382A92-6D25-A7EE-CCAF-78573D8FC86B}"/>
                </a:ext>
              </a:extLst>
            </p:cNvPr>
            <p:cNvPicPr/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9594022" y="6604909"/>
              <a:ext cx="4866850" cy="1106157"/>
            </a:xfrm>
            <a:prstGeom prst="rect">
              <a:avLst/>
            </a:prstGeom>
            <a:ln/>
          </p:spPr>
        </p:pic>
      </p:grpSp>
      <p:sp>
        <p:nvSpPr>
          <p:cNvPr id="82" name="Shape 6">
            <a:extLst>
              <a:ext uri="{FF2B5EF4-FFF2-40B4-BE49-F238E27FC236}">
                <a16:creationId xmlns:a16="http://schemas.microsoft.com/office/drawing/2014/main" id="{1B7C21E1-8003-8CEA-800E-7D847F938904}"/>
              </a:ext>
            </a:extLst>
          </p:cNvPr>
          <p:cNvSpPr/>
          <p:nvPr/>
        </p:nvSpPr>
        <p:spPr>
          <a:xfrm rot="5400000">
            <a:off x="7292342" y="-3549032"/>
            <a:ext cx="45719" cy="14630402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94845BF6-290D-7BC8-E943-C80EC90124F5}"/>
              </a:ext>
            </a:extLst>
          </p:cNvPr>
          <p:cNvSpPr/>
          <p:nvPr/>
        </p:nvSpPr>
        <p:spPr>
          <a:xfrm>
            <a:off x="10401819" y="4267664"/>
            <a:ext cx="1738193" cy="22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Flujo</a:t>
            </a: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1</a:t>
            </a:r>
            <a:endParaRPr lang="en-US" sz="1400" dirty="0"/>
          </a:p>
        </p:txBody>
      </p: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EBFB344B-EDFB-DF14-15D5-EA77076FA7DB}"/>
              </a:ext>
            </a:extLst>
          </p:cNvPr>
          <p:cNvCxnSpPr>
            <a:cxnSpLocks/>
          </p:cNvCxnSpPr>
          <p:nvPr/>
        </p:nvCxnSpPr>
        <p:spPr>
          <a:xfrm flipH="1">
            <a:off x="9838734" y="4375556"/>
            <a:ext cx="1066800" cy="116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9" name="Text 4">
            <a:extLst>
              <a:ext uri="{FF2B5EF4-FFF2-40B4-BE49-F238E27FC236}">
                <a16:creationId xmlns:a16="http://schemas.microsoft.com/office/drawing/2014/main" id="{70247470-CC77-D438-B516-2BD657F07F5B}"/>
              </a:ext>
            </a:extLst>
          </p:cNvPr>
          <p:cNvSpPr/>
          <p:nvPr/>
        </p:nvSpPr>
        <p:spPr>
          <a:xfrm>
            <a:off x="10717870" y="5156565"/>
            <a:ext cx="1738193" cy="22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Flujo</a:t>
            </a: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2</a:t>
            </a:r>
            <a:endParaRPr lang="en-US" sz="1400" dirty="0"/>
          </a:p>
        </p:txBody>
      </p:sp>
      <p:sp>
        <p:nvSpPr>
          <p:cNvPr id="96" name="Text 4">
            <a:extLst>
              <a:ext uri="{FF2B5EF4-FFF2-40B4-BE49-F238E27FC236}">
                <a16:creationId xmlns:a16="http://schemas.microsoft.com/office/drawing/2014/main" id="{1E7D837C-135A-AE4C-EA5D-5696F52A8CA8}"/>
              </a:ext>
            </a:extLst>
          </p:cNvPr>
          <p:cNvSpPr/>
          <p:nvPr/>
        </p:nvSpPr>
        <p:spPr>
          <a:xfrm>
            <a:off x="11137052" y="6034698"/>
            <a:ext cx="1214744" cy="2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Flujo</a:t>
            </a: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3</a:t>
            </a:r>
            <a:endParaRPr lang="en-US" sz="1400" dirty="0"/>
          </a:p>
        </p:txBody>
      </p: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B4ABFBC1-E264-32D8-591C-B58FD919F127}"/>
              </a:ext>
            </a:extLst>
          </p:cNvPr>
          <p:cNvGrpSpPr/>
          <p:nvPr/>
        </p:nvGrpSpPr>
        <p:grpSpPr>
          <a:xfrm>
            <a:off x="4081752" y="6740154"/>
            <a:ext cx="6850531" cy="622969"/>
            <a:chOff x="6396376" y="6613229"/>
            <a:chExt cx="6850531" cy="622969"/>
          </a:xfrm>
        </p:grpSpPr>
        <p:sp>
          <p:nvSpPr>
            <p:cNvPr id="107" name="Shape 1">
              <a:extLst>
                <a:ext uri="{FF2B5EF4-FFF2-40B4-BE49-F238E27FC236}">
                  <a16:creationId xmlns:a16="http://schemas.microsoft.com/office/drawing/2014/main" id="{2D446AD5-6C37-EA7E-76B7-C24E2047EDCC}"/>
                </a:ext>
              </a:extLst>
            </p:cNvPr>
            <p:cNvSpPr/>
            <p:nvPr/>
          </p:nvSpPr>
          <p:spPr>
            <a:xfrm>
              <a:off x="6396376" y="6613229"/>
              <a:ext cx="6850531" cy="622969"/>
            </a:xfrm>
            <a:prstGeom prst="roundRect">
              <a:avLst>
                <a:gd name="adj" fmla="val 3073"/>
              </a:avLst>
            </a:prstGeom>
            <a:solidFill>
              <a:srgbClr val="000018">
                <a:alpha val="95000"/>
              </a:srgbClr>
            </a:solidFill>
            <a:ln w="22860">
              <a:solidFill>
                <a:srgbClr val="313E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09" name="image13.png">
              <a:extLst>
                <a:ext uri="{FF2B5EF4-FFF2-40B4-BE49-F238E27FC236}">
                  <a16:creationId xmlns:a16="http://schemas.microsoft.com/office/drawing/2014/main" id="{E888D031-0C7A-BA96-3713-2440337B165E}"/>
                </a:ext>
              </a:extLst>
            </p:cNvPr>
            <p:cNvPicPr/>
            <p:nvPr/>
          </p:nvPicPr>
          <p:blipFill>
            <a:blip r:embed="rId10"/>
            <a:srcRect/>
            <a:stretch>
              <a:fillRect/>
            </a:stretch>
          </p:blipFill>
          <p:spPr>
            <a:xfrm>
              <a:off x="6556836" y="6659906"/>
              <a:ext cx="6613202" cy="506222"/>
            </a:xfrm>
            <a:prstGeom prst="rect">
              <a:avLst/>
            </a:prstGeom>
            <a:ln/>
          </p:spPr>
        </p:pic>
      </p:grpSp>
      <p:pic>
        <p:nvPicPr>
          <p:cNvPr id="110" name="image15.png" descr="Diagrama&#10;&#10;El contenido generado por IA puede ser incorrecto.">
            <a:extLst>
              <a:ext uri="{FF2B5EF4-FFF2-40B4-BE49-F238E27FC236}">
                <a16:creationId xmlns:a16="http://schemas.microsoft.com/office/drawing/2014/main" id="{5E5D0ECE-771D-90BE-E24F-68C4B9E11737}"/>
              </a:ext>
            </a:extLst>
          </p:cNvPr>
          <p:cNvPicPr/>
          <p:nvPr/>
        </p:nvPicPr>
        <p:blipFill>
          <a:blip r:embed="rId11"/>
          <a:srcRect/>
          <a:stretch>
            <a:fillRect/>
          </a:stretch>
        </p:blipFill>
        <p:spPr>
          <a:xfrm>
            <a:off x="11873187" y="6603336"/>
            <a:ext cx="2467180" cy="1379433"/>
          </a:xfrm>
          <a:prstGeom prst="rect">
            <a:avLst/>
          </a:prstGeom>
          <a:ln/>
        </p:spPr>
      </p:pic>
      <p:sp>
        <p:nvSpPr>
          <p:cNvPr id="113" name="Text 4">
            <a:extLst>
              <a:ext uri="{FF2B5EF4-FFF2-40B4-BE49-F238E27FC236}">
                <a16:creationId xmlns:a16="http://schemas.microsoft.com/office/drawing/2014/main" id="{5FFA96C2-B9A0-4FFA-7E48-0967DD9B7AE3}"/>
              </a:ext>
            </a:extLst>
          </p:cNvPr>
          <p:cNvSpPr/>
          <p:nvPr/>
        </p:nvSpPr>
        <p:spPr>
          <a:xfrm>
            <a:off x="6755439" y="7688238"/>
            <a:ext cx="1214744" cy="2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Flujo</a:t>
            </a: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4</a:t>
            </a:r>
            <a:endParaRPr lang="en-US" sz="1400" dirty="0"/>
          </a:p>
        </p:txBody>
      </p:sp>
      <p:sp>
        <p:nvSpPr>
          <p:cNvPr id="114" name="Text 4">
            <a:extLst>
              <a:ext uri="{FF2B5EF4-FFF2-40B4-BE49-F238E27FC236}">
                <a16:creationId xmlns:a16="http://schemas.microsoft.com/office/drawing/2014/main" id="{6BF33A9B-1AB1-38D2-5A74-B2E4B4C13C98}"/>
              </a:ext>
            </a:extLst>
          </p:cNvPr>
          <p:cNvSpPr/>
          <p:nvPr/>
        </p:nvSpPr>
        <p:spPr>
          <a:xfrm>
            <a:off x="13332085" y="6089568"/>
            <a:ext cx="1214744" cy="2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Flujo</a:t>
            </a:r>
            <a:r>
              <a:rPr lang="en-US" sz="1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5</a:t>
            </a:r>
            <a:endParaRPr lang="en-US" sz="1400" dirty="0"/>
          </a:p>
        </p:txBody>
      </p:sp>
      <p:cxnSp>
        <p:nvCxnSpPr>
          <p:cNvPr id="115" name="Conector recto de flecha 114">
            <a:extLst>
              <a:ext uri="{FF2B5EF4-FFF2-40B4-BE49-F238E27FC236}">
                <a16:creationId xmlns:a16="http://schemas.microsoft.com/office/drawing/2014/main" id="{CB7F42D1-EB23-6C62-6BF9-A8999DF1D5FD}"/>
              </a:ext>
            </a:extLst>
          </p:cNvPr>
          <p:cNvCxnSpPr>
            <a:cxnSpLocks/>
          </p:cNvCxnSpPr>
          <p:nvPr/>
        </p:nvCxnSpPr>
        <p:spPr>
          <a:xfrm flipH="1">
            <a:off x="10204115" y="5267292"/>
            <a:ext cx="1066800" cy="116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63EB9635-79C6-DB0B-D676-AB4A027CD00E}"/>
              </a:ext>
            </a:extLst>
          </p:cNvPr>
          <p:cNvCxnSpPr>
            <a:cxnSpLocks/>
          </p:cNvCxnSpPr>
          <p:nvPr/>
        </p:nvCxnSpPr>
        <p:spPr>
          <a:xfrm flipH="1">
            <a:off x="10398883" y="6170301"/>
            <a:ext cx="1066800" cy="116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B40F64E0-593A-EF52-B1A6-4E981E881178}"/>
              </a:ext>
            </a:extLst>
          </p:cNvPr>
          <p:cNvCxnSpPr>
            <a:cxnSpLocks/>
          </p:cNvCxnSpPr>
          <p:nvPr/>
        </p:nvCxnSpPr>
        <p:spPr>
          <a:xfrm flipV="1">
            <a:off x="7655169" y="7329394"/>
            <a:ext cx="688493" cy="4416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349A1342-72AE-7386-6423-EDEF128ED120}"/>
              </a:ext>
            </a:extLst>
          </p:cNvPr>
          <p:cNvCxnSpPr>
            <a:cxnSpLocks/>
            <a:stCxn id="114" idx="2"/>
          </p:cNvCxnSpPr>
          <p:nvPr/>
        </p:nvCxnSpPr>
        <p:spPr>
          <a:xfrm flipH="1">
            <a:off x="13332085" y="6326440"/>
            <a:ext cx="607372" cy="4229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9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D1D17-6F8B-7900-7E4D-CCDB9844C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28">
            <a:extLst>
              <a:ext uri="{FF2B5EF4-FFF2-40B4-BE49-F238E27FC236}">
                <a16:creationId xmlns:a16="http://schemas.microsoft.com/office/drawing/2014/main" id="{95C9FDF8-0A1C-A3F1-DDF9-BFB95036A873}"/>
              </a:ext>
            </a:extLst>
          </p:cNvPr>
          <p:cNvSpPr/>
          <p:nvPr/>
        </p:nvSpPr>
        <p:spPr>
          <a:xfrm>
            <a:off x="662590" y="761784"/>
            <a:ext cx="33467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Arquitectura Técnica del Sistema</a:t>
            </a:r>
            <a:endParaRPr lang="en-US" sz="3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8F25E3B-92C3-2588-53E9-A5C16865E1AD}"/>
              </a:ext>
            </a:extLst>
          </p:cNvPr>
          <p:cNvSpPr/>
          <p:nvPr/>
        </p:nvSpPr>
        <p:spPr>
          <a:xfrm>
            <a:off x="901830" y="1420514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Actores principales:</a:t>
            </a:r>
            <a:endParaRPr lang="en-US" sz="2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3174E59-46AF-765D-E19C-EA28ACF8471C}"/>
              </a:ext>
            </a:extLst>
          </p:cNvPr>
          <p:cNvSpPr/>
          <p:nvPr/>
        </p:nvSpPr>
        <p:spPr>
          <a:xfrm>
            <a:off x="998371" y="1749154"/>
            <a:ext cx="3774400" cy="29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Usuario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(docente/estudiante)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Administrador (Admin)</a:t>
            </a: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14EA07F-D479-D6D9-32A9-FD47ABFCA81B}"/>
              </a:ext>
            </a:extLst>
          </p:cNvPr>
          <p:cNvSpPr/>
          <p:nvPr/>
        </p:nvSpPr>
        <p:spPr>
          <a:xfrm>
            <a:off x="901831" y="2618853"/>
            <a:ext cx="279856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Procesos principales (casos de uso):</a:t>
            </a:r>
            <a:endParaRPr lang="en-US" sz="2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E99B9F8-AECF-6247-5F41-5DEC75C84DCF}"/>
              </a:ext>
            </a:extLst>
          </p:cNvPr>
          <p:cNvSpPr/>
          <p:nvPr/>
        </p:nvSpPr>
        <p:spPr>
          <a:xfrm>
            <a:off x="998371" y="2979643"/>
            <a:ext cx="4358293" cy="75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(inicio de sesión)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Cursar cursos (matrícula, acceso a recursos, actividades, evaluaciones)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cursos (crear/editar/eliminar)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del sitio (tema, plugins, seguridad, backups)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usuarios (roles, contraseñas, bloqueos)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8D7A6EB-50D8-FCD3-21C0-935F56DCA377}"/>
              </a:ext>
            </a:extLst>
          </p:cNvPr>
          <p:cNvSpPr/>
          <p:nvPr/>
        </p:nvSpPr>
        <p:spPr>
          <a:xfrm>
            <a:off x="901831" y="5298662"/>
            <a:ext cx="2217420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Modelo de datos (relacional):</a:t>
            </a:r>
            <a:endParaRPr lang="en-US" sz="2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156F8DA-EC0E-9218-A123-DCF5EE9A5E29}"/>
              </a:ext>
            </a:extLst>
          </p:cNvPr>
          <p:cNvSpPr/>
          <p:nvPr/>
        </p:nvSpPr>
        <p:spPr>
          <a:xfrm>
            <a:off x="998371" y="5657314"/>
            <a:ext cx="3774400" cy="75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Usuario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Curso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Actividad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Calificación</a:t>
            </a:r>
            <a:endParaRPr lang="en-US" sz="16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6EB1F04-B2F7-AC03-4E77-9EF49BE2F65E}"/>
              </a:ext>
            </a:extLst>
          </p:cNvPr>
          <p:cNvSpPr/>
          <p:nvPr/>
        </p:nvSpPr>
        <p:spPr>
          <a:xfrm>
            <a:off x="3402449" y="7856237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proyecto </a:t>
            </a:r>
            <a:r>
              <a:rPr lang="en-US" sz="14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solo es pedagógico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tiene </a:t>
            </a:r>
            <a:r>
              <a:rPr lang="en-US" sz="140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diseño sistémico formal</a:t>
            </a: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(procesos + casos de uso + BD).</a:t>
            </a:r>
            <a:endParaRPr lang="en-US" sz="1400" dirty="0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01525D62-259A-A15E-2AAB-23F9CD468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  <p:grpSp>
        <p:nvGrpSpPr>
          <p:cNvPr id="41" name="Grupo 40">
            <a:extLst>
              <a:ext uri="{FF2B5EF4-FFF2-40B4-BE49-F238E27FC236}">
                <a16:creationId xmlns:a16="http://schemas.microsoft.com/office/drawing/2014/main" id="{D22D96D3-C8D8-8ACC-067C-1146E4B58865}"/>
              </a:ext>
            </a:extLst>
          </p:cNvPr>
          <p:cNvGrpSpPr/>
          <p:nvPr/>
        </p:nvGrpSpPr>
        <p:grpSpPr>
          <a:xfrm>
            <a:off x="8708376" y="761784"/>
            <a:ext cx="5575664" cy="3099930"/>
            <a:chOff x="8522677" y="750277"/>
            <a:chExt cx="5343031" cy="3632392"/>
          </a:xfrm>
        </p:grpSpPr>
        <p:sp>
          <p:nvSpPr>
            <p:cNvPr id="40" name="Shape 1"/>
            <p:cNvSpPr/>
            <p:nvPr/>
          </p:nvSpPr>
          <p:spPr>
            <a:xfrm>
              <a:off x="8522677" y="750277"/>
              <a:ext cx="5343031" cy="3632392"/>
            </a:xfrm>
            <a:prstGeom prst="roundRect">
              <a:avLst>
                <a:gd name="adj" fmla="val 2945"/>
              </a:avLst>
            </a:prstGeom>
            <a:solidFill>
              <a:srgbClr val="182567"/>
            </a:solidFill>
            <a:ln w="7620">
              <a:solidFill>
                <a:srgbClr val="313E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9" name="image17.png">
              <a:extLst>
                <a:ext uri="{FF2B5EF4-FFF2-40B4-BE49-F238E27FC236}">
                  <a16:creationId xmlns:a16="http://schemas.microsoft.com/office/drawing/2014/main" id="{905CB8D8-8845-1A50-C950-68E424C08296}"/>
                </a:ext>
              </a:extLst>
            </p:cNvPr>
            <p:cNvPicPr/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8696985" y="875782"/>
              <a:ext cx="5039995" cy="3406775"/>
            </a:xfrm>
            <a:prstGeom prst="rect">
              <a:avLst/>
            </a:prstGeom>
            <a:ln/>
          </p:spPr>
        </p:pic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770411D7-E6B3-0F2B-4F7F-4483E38680A8}"/>
              </a:ext>
            </a:extLst>
          </p:cNvPr>
          <p:cNvGrpSpPr/>
          <p:nvPr/>
        </p:nvGrpSpPr>
        <p:grpSpPr>
          <a:xfrm>
            <a:off x="6418584" y="4197297"/>
            <a:ext cx="5575665" cy="3199227"/>
            <a:chOff x="7163681" y="3481690"/>
            <a:chExt cx="5343031" cy="2731771"/>
          </a:xfrm>
        </p:grpSpPr>
        <p:sp>
          <p:nvSpPr>
            <p:cNvPr id="43" name="Shape 1">
              <a:extLst>
                <a:ext uri="{FF2B5EF4-FFF2-40B4-BE49-F238E27FC236}">
                  <a16:creationId xmlns:a16="http://schemas.microsoft.com/office/drawing/2014/main" id="{6E3D8462-4061-4AFC-3E9C-0A38C7EC7298}"/>
                </a:ext>
              </a:extLst>
            </p:cNvPr>
            <p:cNvSpPr/>
            <p:nvPr/>
          </p:nvSpPr>
          <p:spPr>
            <a:xfrm>
              <a:off x="7163681" y="3481690"/>
              <a:ext cx="5343031" cy="2731771"/>
            </a:xfrm>
            <a:prstGeom prst="roundRect">
              <a:avLst>
                <a:gd name="adj" fmla="val 2945"/>
              </a:avLst>
            </a:prstGeom>
            <a:solidFill>
              <a:srgbClr val="182567"/>
            </a:solidFill>
            <a:ln w="7620">
              <a:solidFill>
                <a:srgbClr val="313E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2" name="image3.png">
              <a:extLst>
                <a:ext uri="{FF2B5EF4-FFF2-40B4-BE49-F238E27FC236}">
                  <a16:creationId xmlns:a16="http://schemas.microsoft.com/office/drawing/2014/main" id="{DE04F24D-E082-70B0-B12F-17A7208F1986}"/>
                </a:ext>
              </a:extLst>
            </p:cNvPr>
            <p:cNvPicPr/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7315200" y="3572843"/>
              <a:ext cx="5039995" cy="2549466"/>
            </a:xfrm>
            <a:prstGeom prst="rect">
              <a:avLst/>
            </a:prstGeom>
            <a:ln/>
          </p:spPr>
        </p:pic>
      </p:grpSp>
    </p:spTree>
    <p:extLst>
      <p:ext uri="{BB962C8B-B14F-4D97-AF65-F5344CB8AC3E}">
        <p14:creationId xmlns:p14="http://schemas.microsoft.com/office/powerpoint/2010/main" val="2565028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94E7251E-5A31-E1FD-E08B-B8029289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3386733" y="1791772"/>
            <a:ext cx="352425" cy="352425"/>
          </a:xfrm>
          <a:prstGeom prst="roundRect">
            <a:avLst>
              <a:gd name="adj" fmla="val 25943351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3650" y="1888569"/>
            <a:ext cx="158591" cy="1585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86733" y="2205038"/>
            <a:ext cx="1876187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1️⃣</a:t>
            </a: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Impacto pedagógico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386733" y="2461736"/>
            <a:ext cx="2411730" cy="755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interacción y participación (foros/actividades)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continua y retroalimentación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Aprendizaje más dinámico y mediado por TIC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84319" y="1666756"/>
            <a:ext cx="2661761" cy="1675567"/>
          </a:xfrm>
          <a:prstGeom prst="roundRect">
            <a:avLst>
              <a:gd name="adj" fmla="val 294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109335" y="1791772"/>
            <a:ext cx="352425" cy="352425"/>
          </a:xfrm>
          <a:prstGeom prst="roundRect">
            <a:avLst>
              <a:gd name="adj" fmla="val 25943351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6252" y="1888569"/>
            <a:ext cx="158591" cy="1585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09335" y="2205038"/>
            <a:ext cx="1876663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2️⃣</a:t>
            </a: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Impacto tecnológico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109335" y="2461736"/>
            <a:ext cx="2411730" cy="755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Desarrollo de cultura digital institucional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centralizada de cursos, recursos y seguimiento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Buenas prácticas de seguridad y uso responsable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706922" y="1666756"/>
            <a:ext cx="2661761" cy="1675567"/>
          </a:xfrm>
          <a:prstGeom prst="roundRect">
            <a:avLst>
              <a:gd name="adj" fmla="val 294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831937" y="1791772"/>
            <a:ext cx="352425" cy="352425"/>
          </a:xfrm>
          <a:prstGeom prst="roundRect">
            <a:avLst>
              <a:gd name="adj" fmla="val 25943351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28854" y="1888569"/>
            <a:ext cx="158591" cy="1585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31937" y="2205038"/>
            <a:ext cx="1839039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3️⃣</a:t>
            </a: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Impacto profesional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831937" y="2461736"/>
            <a:ext cx="2411730" cy="755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Fortalece desempeño y desarrollo docente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Promueve innovación educativa y mejora institucional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brecha de competencias detectada en diagnóstico</a:t>
            </a:r>
            <a:endParaRPr lang="en-US" sz="9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015A8630-DFD3-AAE3-6C08-99EF4674DD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991673"/>
            <a:ext cx="14328458" cy="59463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566B-4B55-B62D-2380-BBE8D3A1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22237F9-B363-8565-304F-58BA4B89CAA3}"/>
              </a:ext>
            </a:extLst>
          </p:cNvPr>
          <p:cNvSpPr/>
          <p:nvPr/>
        </p:nvSpPr>
        <p:spPr>
          <a:xfrm>
            <a:off x="7646191" y="1798358"/>
            <a:ext cx="6244975" cy="472420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7E45013-CDC1-6BED-D8CB-217F21F2A43E}"/>
              </a:ext>
            </a:extLst>
          </p:cNvPr>
          <p:cNvSpPr/>
          <p:nvPr/>
        </p:nvSpPr>
        <p:spPr>
          <a:xfrm>
            <a:off x="450115" y="1798358"/>
            <a:ext cx="6534095" cy="472420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B77826ED-0AEE-1727-2364-B1DF5AAEFAF4}"/>
              </a:ext>
            </a:extLst>
          </p:cNvPr>
          <p:cNvSpPr/>
          <p:nvPr/>
        </p:nvSpPr>
        <p:spPr>
          <a:xfrm>
            <a:off x="581561" y="817410"/>
            <a:ext cx="3596997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Conclusiones y Recomendaciones</a:t>
            </a:r>
            <a:endParaRPr lang="en-US" sz="32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1DA7941-756C-B268-D0C9-FC017646120F}"/>
              </a:ext>
            </a:extLst>
          </p:cNvPr>
          <p:cNvSpPr/>
          <p:nvPr/>
        </p:nvSpPr>
        <p:spPr>
          <a:xfrm>
            <a:off x="928420" y="2185670"/>
            <a:ext cx="1833682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Conclusiones (3 clave):</a:t>
            </a:r>
            <a:endParaRPr lang="en-US" sz="20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524A30A0-17C3-1A51-4D2C-F4CE57571CEF}"/>
              </a:ext>
            </a:extLst>
          </p:cNvPr>
          <p:cNvSpPr/>
          <p:nvPr/>
        </p:nvSpPr>
        <p:spPr>
          <a:xfrm>
            <a:off x="928420" y="2829013"/>
            <a:ext cx="5577483" cy="2356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diagnóstico evidencia </a:t>
            </a: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conocimiento limitado</a:t>
            </a: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el uso pedagógico de Moodle, restringiendo su aprovechamiento educativo.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Existe disposición positiva, pero se requiere </a:t>
            </a: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formación estructurada, práctica y contextualizada</a:t>
            </a: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programa propuesto fortalece competencias y aporta a la </a:t>
            </a: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innovación educativa institucional</a:t>
            </a: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mediante Moodle.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878482AF-09A7-2CEE-951E-F29601244E10}"/>
              </a:ext>
            </a:extLst>
          </p:cNvPr>
          <p:cNvSpPr/>
          <p:nvPr/>
        </p:nvSpPr>
        <p:spPr>
          <a:xfrm>
            <a:off x="8028322" y="2295803"/>
            <a:ext cx="267783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Recomendaciones (3 principales):</a:t>
            </a:r>
            <a:endParaRPr lang="en-US" sz="20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372A3B05-3429-AF4B-C81A-6AE8AC40A35C}"/>
              </a:ext>
            </a:extLst>
          </p:cNvPr>
          <p:cNvSpPr/>
          <p:nvPr/>
        </p:nvSpPr>
        <p:spPr>
          <a:xfrm>
            <a:off x="8028322" y="2829013"/>
            <a:ext cx="5461672" cy="755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Implementación progresiva del programa (de básico a recursos avanzados).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Planificación institucional anual con recursos, tiempos y seguimiento.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Acompañamiento técnico–pedagógico y evaluación periódica para ajuste del programa.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1806AF30-FB5A-9A3D-3CB5-FE74AEC4A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560" y="7711066"/>
            <a:ext cx="1786840" cy="50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98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1599</Words>
  <Application>Microsoft Office PowerPoint</Application>
  <PresentationFormat>Personalizado</PresentationFormat>
  <Paragraphs>206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Roboto Medium</vt:lpstr>
      <vt:lpstr>Arial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Nicole Calvas</dc:creator>
  <cp:lastModifiedBy>Nicole Calvas</cp:lastModifiedBy>
  <cp:revision>3</cp:revision>
  <dcterms:created xsi:type="dcterms:W3CDTF">2026-02-25T17:52:53Z</dcterms:created>
  <dcterms:modified xsi:type="dcterms:W3CDTF">2026-02-25T19:39:20Z</dcterms:modified>
</cp:coreProperties>
</file>