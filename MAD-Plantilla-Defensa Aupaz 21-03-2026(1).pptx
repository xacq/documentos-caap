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omments/modernComment_107_ECD75E51.xml" ContentType="application/vnd.ms-powerpoint.comments+xml"/>
  <Override PartName="/ppt/comments/modernComment_117_7D817A67.xml" ContentType="application/vnd.ms-powerpoint.comments+xml"/>
  <Override PartName="/ppt/comments/modernComment_11A_EE782C61.xml" ContentType="application/vnd.ms-powerpoint.comments+xml"/>
  <Override PartName="/ppt/comments/modernComment_10D_DB53B84A.xml" ContentType="application/vnd.ms-powerpoint.comments+xml"/>
  <Override PartName="/ppt/comments/modernComment_10E_A5710C10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7" r:id="rId2"/>
    <p:sldId id="259" r:id="rId3"/>
    <p:sldId id="267" r:id="rId4"/>
    <p:sldId id="261" r:id="rId5"/>
    <p:sldId id="268" r:id="rId6"/>
    <p:sldId id="262" r:id="rId7"/>
    <p:sldId id="263" r:id="rId8"/>
    <p:sldId id="279" r:id="rId9"/>
    <p:sldId id="265" r:id="rId10"/>
    <p:sldId id="282" r:id="rId11"/>
    <p:sldId id="269" r:id="rId12"/>
    <p:sldId id="270" r:id="rId13"/>
    <p:sldId id="288" r:id="rId14"/>
    <p:sldId id="289" r:id="rId15"/>
    <p:sldId id="281" r:id="rId16"/>
    <p:sldId id="290" r:id="rId17"/>
    <p:sldId id="293" r:id="rId18"/>
    <p:sldId id="275" r:id="rId19"/>
    <p:sldId id="292" r:id="rId20"/>
    <p:sldId id="291" r:id="rId21"/>
    <p:sldId id="271" r:id="rId22"/>
    <p:sldId id="273" r:id="rId23"/>
    <p:sldId id="260" r:id="rId24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0BF2CA7-98B2-AF23-3515-5A92ECC8F429}" name="GLADYS ALICIA TENESACA LUNA" initials="GT" userId="S::gtenesaca@utpl.edu.ec::832098da-b117-4479-acb3-e144ae7381a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6D9807"/>
    <a:srgbClr val="FF7A02"/>
    <a:srgbClr val="0492D2"/>
    <a:srgbClr val="C400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Estilo medio 1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94"/>
  </p:normalViewPr>
  <p:slideViewPr>
    <p:cSldViewPr snapToGrid="0" snapToObjects="1">
      <p:cViewPr varScale="1">
        <p:scale>
          <a:sx n="78" d="100"/>
          <a:sy n="78" d="100"/>
        </p:scale>
        <p:origin x="878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9" d="100"/>
          <a:sy n="99" d="100"/>
        </p:scale>
        <p:origin x="427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omments/modernComment_10D_DB53B84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BD18502-A213-4644-B44C-25DF28D1D04B}" authorId="{40BF2CA7-98B2-AF23-3515-5A92ECC8F429}" created="2025-03-20T22:16:55.269">
    <pc:sldMkLst xmlns:pc="http://schemas.microsoft.com/office/powerpoint/2013/main/command">
      <pc:docMk/>
      <pc:sldMk cId="3679696970" sldId="269"/>
    </pc:sldMkLst>
    <p188:txBody>
      <a:bodyPr/>
      <a:lstStyle/>
      <a:p>
        <a:r>
          <a:rPr lang="es-EC"/>
          <a:t>En esta ponerle más enfaisis en a explicación. Pongale un cuadro que abarque todo no se quede suelto</a:t>
        </a:r>
      </a:p>
    </p188:txBody>
  </p188:cm>
</p188:cmLst>
</file>

<file path=ppt/comments/modernComment_10E_A5710C1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2DD8A68-F101-4C76-B316-731003377C55}" authorId="{40BF2CA7-98B2-AF23-3515-5A92ECC8F429}" created="2025-03-20T22:17:59.013">
    <pc:sldMkLst xmlns:pc="http://schemas.microsoft.com/office/powerpoint/2013/main/command">
      <pc:docMk/>
      <pc:sldMk cId="2775649296" sldId="270"/>
    </pc:sldMkLst>
    <p188:txBody>
      <a:bodyPr/>
      <a:lstStyle/>
      <a:p>
        <a:r>
          <a:rPr lang="es-EC"/>
          <a:t>SI es posible hacer un esquema que presenta la solución con wordpress, lo que cuenta awuí pero de forma gráfica</a:t>
        </a:r>
      </a:p>
    </p188:txBody>
  </p188:cm>
</p188:cmLst>
</file>

<file path=ppt/comments/modernComment_11A_EE782C6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BC4383F-6BC4-4BBD-81FB-15F10C620FBB}" authorId="{40BF2CA7-98B2-AF23-3515-5A92ECC8F429}" created="2025-03-20T22:15:02.004">
    <pc:sldMkLst xmlns:pc="http://schemas.microsoft.com/office/powerpoint/2013/main/command">
      <pc:docMk/>
      <pc:sldMk cId="4000853089" sldId="282"/>
    </pc:sldMkLst>
    <p188:txBody>
      <a:bodyPr/>
      <a:lstStyle/>
      <a:p>
        <a:r>
          <a:rPr lang="es-EC"/>
          <a:t>Sebastián Los sprint póngalos en una sola diapositiva, la lista y los explica brevemente recuerde tiene 20 minutos para la presentaciaón</a:t>
        </a:r>
      </a:p>
    </p188:txBody>
  </p188:cm>
</p188:cmLst>
</file>

<file path=ppt/comments/modernComment_107_ECD75E5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9CD922C-457F-4947-B533-48203C2B63EE}" authorId="{40BF2CA7-98B2-AF23-3515-5A92ECC8F429}" created="2025-03-20T22:13:29.335">
    <pc:sldMkLst xmlns:pc="http://schemas.microsoft.com/office/powerpoint/2013/main/command">
      <pc:docMk/>
      <pc:sldMk cId="3973537361" sldId="263"/>
    </pc:sldMkLst>
    <p188:txBody>
      <a:bodyPr/>
      <a:lstStyle/>
      <a:p>
        <a:r>
          <a:rPr lang="es-EC"/>
          <a:t>La explica de forma rápida y brevemente</a:t>
        </a:r>
      </a:p>
    </p188:txBody>
  </p188:cm>
</p188:cmLst>
</file>

<file path=ppt/comments/modernComment_117_7D817A6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AA38B29-F181-41C7-BEA1-D0C0150806B9}" authorId="{40BF2CA7-98B2-AF23-3515-5A92ECC8F429}" created="2025-03-20T22:13:36.551">
    <pc:sldMkLst xmlns:pc="http://schemas.microsoft.com/office/powerpoint/2013/main/command">
      <pc:docMk/>
      <pc:sldMk cId="2105637479" sldId="279"/>
    </pc:sldMkLst>
    <p188:txBody>
      <a:bodyPr/>
      <a:lstStyle/>
      <a:p>
        <a:r>
          <a:rPr lang="es-EC"/>
          <a:t>La explica de forma rápida y brevemente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D91A6DFF-8510-C500-CEC3-756B1BDA860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01A4D70-395F-F4B9-5FE9-42577B8DDF3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A645C0-0030-3A4F-AC87-AA7E15384AB9}" type="datetimeFigureOut">
              <a:rPr lang="es-EC" smtClean="0"/>
              <a:t>21/3/2026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306E421-EB67-9068-6FCF-C3D8650472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185F293-F04E-38A1-5E10-596EC079410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C9B5C5-C7D3-7D4A-9831-7FEA362E93C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601059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EBC4A6-58CE-1A42-AEBC-3C083FC98C1B}" type="datetimeFigureOut">
              <a:rPr lang="es-EC" smtClean="0"/>
              <a:t>21/3/2026</a:t>
            </a:fld>
            <a:endParaRPr lang="es-EC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C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56A32-C3AE-EA4D-B481-059ABDF01A9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02868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56A32-C3AE-EA4D-B481-059ABDF01A91}" type="slidenum">
              <a:rPr lang="es-EC" smtClean="0"/>
              <a:t>1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680167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6509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01302B-0616-B5D3-ECCE-058359531D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EC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1564C63-B3AA-E309-2194-D7C6374C4A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modificar el estilo de subtítulo del patrón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628214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96AE4F-68D1-58AE-399B-ED8C89DF6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6928AC-CA04-C1F1-2338-F8DD866ED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370968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971046-1272-8636-CC1B-A5B2B5596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FCEA2A2-3047-E9CF-D9C0-D7ECFDD7B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3B75996-A587-378E-DE5E-1F84AABA67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402C6AF-B09D-E163-89D5-6FB3422FE8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F42A881-5142-C8A1-11A9-419C2BCD66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52138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7582DDE6-59BE-A35B-00AF-21C442A86E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766218"/>
            <a:ext cx="10515600" cy="1325563"/>
          </a:xfrm>
          <a:prstGeom prst="rect">
            <a:avLst/>
          </a:prstGeom>
        </p:spPr>
        <p:txBody>
          <a:bodyPr/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GRACIAS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725974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1770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49" r:id="rId2"/>
    <p:sldLayoutId id="2147483650" r:id="rId3"/>
    <p:sldLayoutId id="2147483653" r:id="rId4"/>
    <p:sldLayoutId id="214748365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7_ECD75E51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7_7D817A6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microsoft.com/office/2018/10/relationships/comments" Target="../comments/modernComment_11A_EE782C61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microsoft.com/office/2018/10/relationships/comments" Target="../comments/modernComment_10D_DB53B84A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microsoft.com/office/2018/10/relationships/comments" Target="../comments/modernComment_10E_A5710C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C325EAB-975C-2F68-A630-B1E94C256C09}"/>
              </a:ext>
            </a:extLst>
          </p:cNvPr>
          <p:cNvSpPr txBox="1">
            <a:spLocks noChangeArrowheads="1"/>
          </p:cNvSpPr>
          <p:nvPr/>
        </p:nvSpPr>
        <p:spPr>
          <a:xfrm>
            <a:off x="475736" y="3830068"/>
            <a:ext cx="8843210" cy="162568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ct val="150000"/>
              </a:lnSpc>
              <a:spcAft>
                <a:spcPts val="0"/>
              </a:spcAft>
              <a:defRPr/>
            </a:pPr>
            <a:r>
              <a:rPr lang="es-ES" sz="2200" dirty="0">
                <a:solidFill>
                  <a:schemeClr val="bg1"/>
                </a:solidFill>
                <a:latin typeface="Avenir Medium" panose="02000503020000020003" pitchFamily="2" charset="0"/>
              </a:rPr>
              <a:t>Estudiante: </a:t>
            </a:r>
            <a:r>
              <a:rPr lang="es-ES" sz="2200" dirty="0">
                <a:solidFill>
                  <a:schemeClr val="bg1"/>
                </a:solidFill>
                <a:latin typeface="Avenir Book" panose="02000503020000020003" pitchFamily="2" charset="0"/>
              </a:rPr>
              <a:t>Diego </a:t>
            </a:r>
            <a:r>
              <a:rPr lang="es-ES" sz="2200" dirty="0" err="1">
                <a:solidFill>
                  <a:schemeClr val="bg1"/>
                </a:solidFill>
                <a:latin typeface="Avenir Book" panose="02000503020000020003" pitchFamily="2" charset="0"/>
              </a:rPr>
              <a:t>Aupaz</a:t>
            </a:r>
            <a:br>
              <a:rPr lang="es-ES" sz="2200" dirty="0">
                <a:solidFill>
                  <a:schemeClr val="bg1"/>
                </a:solidFill>
                <a:latin typeface="Avenir Book" panose="02000503020000020003" pitchFamily="2" charset="0"/>
              </a:rPr>
            </a:br>
            <a:r>
              <a:rPr lang="es-ES" sz="2200" dirty="0">
                <a:solidFill>
                  <a:schemeClr val="bg1"/>
                </a:solidFill>
                <a:latin typeface="Avenir Medium" panose="02000503020000020003" pitchFamily="2" charset="0"/>
              </a:rPr>
              <a:t>Director:</a:t>
            </a:r>
            <a:br>
              <a:rPr lang="es-ES" sz="2200" dirty="0">
                <a:solidFill>
                  <a:schemeClr val="bg1"/>
                </a:solidFill>
                <a:latin typeface="Avenir Book" panose="02000503020000020003" pitchFamily="2" charset="0"/>
              </a:rPr>
            </a:br>
            <a:r>
              <a:rPr lang="es-ES_tradnl" sz="2200" b="1" dirty="0">
                <a:solidFill>
                  <a:schemeClr val="bg1"/>
                </a:solidFill>
                <a:latin typeface="Avenir Book" panose="02000503020000020003" pitchFamily="2" charset="0"/>
              </a:rPr>
              <a:t>Febrero 2026</a:t>
            </a:r>
            <a:endParaRPr lang="es-ES" sz="2200" b="1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EE4E910F-FB4B-4D6B-5A58-130B2EEF3B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591" y="887242"/>
            <a:ext cx="9593174" cy="14945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s-ES" sz="3200" dirty="0">
                <a:solidFill>
                  <a:schemeClr val="bg1"/>
                </a:solidFill>
              </a:rPr>
              <a:t>Desarrollo de un modelo predictivo basado en Machine </a:t>
            </a:r>
            <a:r>
              <a:rPr lang="es-ES" sz="3200" dirty="0" err="1">
                <a:solidFill>
                  <a:schemeClr val="bg1"/>
                </a:solidFill>
              </a:rPr>
              <a:t>Learning</a:t>
            </a:r>
            <a:r>
              <a:rPr lang="es-ES" sz="3200" dirty="0">
                <a:solidFill>
                  <a:schemeClr val="bg1"/>
                </a:solidFill>
              </a:rPr>
              <a:t> para la prospección automatizada de créditos recurrentes en función del riesgo crediticio en la Cooperativa de Ahorro y Crédito Tulcán</a:t>
            </a:r>
            <a:endParaRPr lang="es-ES" sz="32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venir Medium" panose="02000503020000020003" pitchFamily="2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F7561AB2-5B57-29E6-059B-ACE41B912A22}"/>
              </a:ext>
            </a:extLst>
          </p:cNvPr>
          <p:cNvSpPr txBox="1">
            <a:spLocks noChangeArrowheads="1"/>
          </p:cNvSpPr>
          <p:nvPr/>
        </p:nvSpPr>
        <p:spPr>
          <a:xfrm>
            <a:off x="7651531" y="4107415"/>
            <a:ext cx="4540469" cy="1000613"/>
          </a:xfrm>
          <a:prstGeom prst="rect">
            <a:avLst/>
          </a:prstGeom>
          <a:solidFill>
            <a:schemeClr val="accent4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lnSpc>
                <a:spcPct val="100000"/>
              </a:lnSpc>
              <a:spcAft>
                <a:spcPts val="0"/>
              </a:spcAft>
              <a:defRPr/>
            </a:pPr>
            <a:r>
              <a:rPr lang="es-ES" sz="2800" b="1" dirty="0">
                <a:solidFill>
                  <a:schemeClr val="accent1">
                    <a:lumMod val="75000"/>
                  </a:schemeClr>
                </a:solidFill>
                <a:latin typeface="Avenir Black" panose="02000503020000020003" pitchFamily="2" charset="0"/>
              </a:rPr>
              <a:t>Carrera de Tecnologías de la Información</a:t>
            </a:r>
          </a:p>
        </p:txBody>
      </p:sp>
    </p:spTree>
    <p:extLst>
      <p:ext uri="{BB962C8B-B14F-4D97-AF65-F5344CB8AC3E}">
        <p14:creationId xmlns:p14="http://schemas.microsoft.com/office/powerpoint/2010/main" val="3075112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309;p3">
            <a:extLst>
              <a:ext uri="{FF2B5EF4-FFF2-40B4-BE49-F238E27FC236}">
                <a16:creationId xmlns:a16="http://schemas.microsoft.com/office/drawing/2014/main" id="{81D2A54E-BF77-12C8-43D6-D990AAD710B8}"/>
              </a:ext>
            </a:extLst>
          </p:cNvPr>
          <p:cNvSpPr txBox="1"/>
          <p:nvPr/>
        </p:nvSpPr>
        <p:spPr>
          <a:xfrm>
            <a:off x="544068" y="625839"/>
            <a:ext cx="4700594" cy="591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lang="es-PE" sz="3600" b="1" i="0" u="none" strike="noStrike" cap="none" dirty="0">
                <a:latin typeface="Avenir Book" panose="02000503020000020003" pitchFamily="2" charset="0"/>
                <a:ea typeface="Arial"/>
                <a:cs typeface="Arial"/>
                <a:sym typeface="Arial"/>
              </a:rPr>
              <a:t>Agenda</a:t>
            </a:r>
            <a:endParaRPr sz="3600" b="1" i="0" u="none" strike="noStrike" cap="none" dirty="0">
              <a:latin typeface="Avenir Book" panose="02000503020000020003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29" name="Google Shape;347;p4">
            <a:extLst>
              <a:ext uri="{FF2B5EF4-FFF2-40B4-BE49-F238E27FC236}">
                <a16:creationId xmlns:a16="http://schemas.microsoft.com/office/drawing/2014/main" id="{0DA6E412-884A-9F39-6E62-8818B03A1DA6}"/>
              </a:ext>
            </a:extLst>
          </p:cNvPr>
          <p:cNvSpPr/>
          <p:nvPr/>
        </p:nvSpPr>
        <p:spPr>
          <a:xfrm>
            <a:off x="0" y="1433020"/>
            <a:ext cx="1576552" cy="66507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 Book" panose="02000503020000020003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30" name="Line 2">
            <a:extLst>
              <a:ext uri="{FF2B5EF4-FFF2-40B4-BE49-F238E27FC236}">
                <a16:creationId xmlns:a16="http://schemas.microsoft.com/office/drawing/2014/main" id="{2016390E-0F03-26BC-1441-A6AFD7EAC858}"/>
              </a:ext>
            </a:extLst>
          </p:cNvPr>
          <p:cNvSpPr>
            <a:spLocks noChangeShapeType="1"/>
          </p:cNvSpPr>
          <p:nvPr/>
        </p:nvSpPr>
        <p:spPr bwMode="auto">
          <a:xfrm>
            <a:off x="1264309" y="2674107"/>
            <a:ext cx="3920945" cy="1523"/>
          </a:xfrm>
          <a:prstGeom prst="line">
            <a:avLst/>
          </a:prstGeom>
          <a:noFill/>
          <a:ln w="19050">
            <a:solidFill>
              <a:srgbClr val="002060"/>
            </a:solidFill>
            <a:prstDash val="sysDot"/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s-PE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Box 6">
            <a:extLst>
              <a:ext uri="{FF2B5EF4-FFF2-40B4-BE49-F238E27FC236}">
                <a16:creationId xmlns:a16="http://schemas.microsoft.com/office/drawing/2014/main" id="{64878578-78CA-8C20-E2E1-17942888C1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9936" y="2256230"/>
            <a:ext cx="167885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PE" sz="2000" dirty="0" err="1">
                <a:latin typeface="Avenir Book" panose="02000503020000020003" pitchFamily="2" charset="0"/>
                <a:cs typeface="Arial" panose="020B0604020202020204" pitchFamily="34" charset="0"/>
              </a:rPr>
              <a:t>Problemática</a:t>
            </a:r>
            <a:endParaRPr lang="en-US" altLang="es-PE" sz="2000" dirty="0"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p:sp>
        <p:nvSpPr>
          <p:cNvPr id="66" name="TextBox 68">
            <a:extLst>
              <a:ext uri="{FF2B5EF4-FFF2-40B4-BE49-F238E27FC236}">
                <a16:creationId xmlns:a16="http://schemas.microsoft.com/office/drawing/2014/main" id="{3B2A87C5-1050-AC85-3C26-EB8C1D6A6CEF}"/>
              </a:ext>
            </a:extLst>
          </p:cNvPr>
          <p:cNvSpPr txBox="1"/>
          <p:nvPr/>
        </p:nvSpPr>
        <p:spPr>
          <a:xfrm>
            <a:off x="723900" y="2226665"/>
            <a:ext cx="527709" cy="46166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algn="r"/>
            <a:r>
              <a:rPr lang="id-ID" sz="2400" b="1" dirty="0">
                <a:solidFill>
                  <a:srgbClr val="002060"/>
                </a:solidFill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67" name="Line 2">
            <a:extLst>
              <a:ext uri="{FF2B5EF4-FFF2-40B4-BE49-F238E27FC236}">
                <a16:creationId xmlns:a16="http://schemas.microsoft.com/office/drawing/2014/main" id="{3D951A81-BE62-BEC0-5B12-F1D84623D714}"/>
              </a:ext>
            </a:extLst>
          </p:cNvPr>
          <p:cNvSpPr>
            <a:spLocks noChangeShapeType="1"/>
          </p:cNvSpPr>
          <p:nvPr/>
        </p:nvSpPr>
        <p:spPr bwMode="auto">
          <a:xfrm>
            <a:off x="1278761" y="3526402"/>
            <a:ext cx="3920945" cy="1523"/>
          </a:xfrm>
          <a:prstGeom prst="line">
            <a:avLst/>
          </a:prstGeom>
          <a:noFill/>
          <a:ln w="19050">
            <a:solidFill>
              <a:srgbClr val="002060"/>
            </a:solidFill>
            <a:prstDash val="sysDot"/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s-PE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Text Box 6">
            <a:extLst>
              <a:ext uri="{FF2B5EF4-FFF2-40B4-BE49-F238E27FC236}">
                <a16:creationId xmlns:a16="http://schemas.microsoft.com/office/drawing/2014/main" id="{56C7EEAB-E62F-AFDE-3B4C-4B44F63A65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4388" y="3108525"/>
            <a:ext cx="128913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PE" sz="2000" dirty="0" err="1">
                <a:latin typeface="Avenir Book" panose="02000503020000020003" pitchFamily="2" charset="0"/>
                <a:cs typeface="Arial" panose="020B0604020202020204" pitchFamily="34" charset="0"/>
              </a:rPr>
              <a:t>Objetivos</a:t>
            </a:r>
            <a:endParaRPr lang="en-US" altLang="es-PE" sz="2000" dirty="0"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C2C5568-8C62-81A2-5788-F6FBC829E090}"/>
              </a:ext>
            </a:extLst>
          </p:cNvPr>
          <p:cNvSpPr txBox="1"/>
          <p:nvPr/>
        </p:nvSpPr>
        <p:spPr>
          <a:xfrm>
            <a:off x="738351" y="3078960"/>
            <a:ext cx="527710" cy="46166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algn="r"/>
            <a:r>
              <a:rPr lang="id-ID" sz="2400" b="1" dirty="0">
                <a:solidFill>
                  <a:srgbClr val="002060"/>
                </a:solidFill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70" name="Line 2">
            <a:extLst>
              <a:ext uri="{FF2B5EF4-FFF2-40B4-BE49-F238E27FC236}">
                <a16:creationId xmlns:a16="http://schemas.microsoft.com/office/drawing/2014/main" id="{1BD7D81E-394F-7ED8-485A-64BCAAEA401A}"/>
              </a:ext>
            </a:extLst>
          </p:cNvPr>
          <p:cNvSpPr>
            <a:spLocks noChangeShapeType="1"/>
          </p:cNvSpPr>
          <p:nvPr/>
        </p:nvSpPr>
        <p:spPr bwMode="auto">
          <a:xfrm>
            <a:off x="1278761" y="4386089"/>
            <a:ext cx="3920945" cy="1523"/>
          </a:xfrm>
          <a:prstGeom prst="line">
            <a:avLst/>
          </a:prstGeom>
          <a:noFill/>
          <a:ln w="19050">
            <a:solidFill>
              <a:srgbClr val="002060"/>
            </a:solidFill>
            <a:prstDash val="sysDot"/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s-PE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Text Box 6">
            <a:extLst>
              <a:ext uri="{FF2B5EF4-FFF2-40B4-BE49-F238E27FC236}">
                <a16:creationId xmlns:a16="http://schemas.microsoft.com/office/drawing/2014/main" id="{539EC4DE-DFF7-AF99-DF9E-2C350C8429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4388" y="3968212"/>
            <a:ext cx="157767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PE" sz="2000" dirty="0" err="1">
                <a:latin typeface="Avenir Book" panose="02000503020000020003" pitchFamily="2" charset="0"/>
                <a:cs typeface="Arial" panose="020B0604020202020204" pitchFamily="34" charset="0"/>
              </a:rPr>
              <a:t>Justificación</a:t>
            </a:r>
            <a:endParaRPr lang="en-US" altLang="es-PE" sz="2000" dirty="0"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p:sp>
        <p:nvSpPr>
          <p:cNvPr id="72" name="TextBox 68">
            <a:extLst>
              <a:ext uri="{FF2B5EF4-FFF2-40B4-BE49-F238E27FC236}">
                <a16:creationId xmlns:a16="http://schemas.microsoft.com/office/drawing/2014/main" id="{20AFC25C-50A3-FF26-97F2-372C537A9A5D}"/>
              </a:ext>
            </a:extLst>
          </p:cNvPr>
          <p:cNvSpPr txBox="1"/>
          <p:nvPr/>
        </p:nvSpPr>
        <p:spPr>
          <a:xfrm>
            <a:off x="738351" y="3938647"/>
            <a:ext cx="527710" cy="46166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algn="r"/>
            <a:r>
              <a:rPr lang="id-ID" sz="2400" b="1" dirty="0">
                <a:solidFill>
                  <a:srgbClr val="002060"/>
                </a:solidFill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73" name="Line 2">
            <a:extLst>
              <a:ext uri="{FF2B5EF4-FFF2-40B4-BE49-F238E27FC236}">
                <a16:creationId xmlns:a16="http://schemas.microsoft.com/office/drawing/2014/main" id="{DE47CEBA-F1F0-59C8-4057-10929540040F}"/>
              </a:ext>
            </a:extLst>
          </p:cNvPr>
          <p:cNvSpPr>
            <a:spLocks noChangeShapeType="1"/>
          </p:cNvSpPr>
          <p:nvPr/>
        </p:nvSpPr>
        <p:spPr bwMode="auto">
          <a:xfrm>
            <a:off x="1278761" y="5242770"/>
            <a:ext cx="3920945" cy="1523"/>
          </a:xfrm>
          <a:prstGeom prst="line">
            <a:avLst/>
          </a:prstGeom>
          <a:noFill/>
          <a:ln w="19050">
            <a:solidFill>
              <a:srgbClr val="002060"/>
            </a:solidFill>
            <a:prstDash val="sysDot"/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s-PE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Text Box 6">
            <a:extLst>
              <a:ext uri="{FF2B5EF4-FFF2-40B4-BE49-F238E27FC236}">
                <a16:creationId xmlns:a16="http://schemas.microsoft.com/office/drawing/2014/main" id="{D4BCAEBB-7571-FEC1-41FB-D7B3B582D8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4388" y="4824893"/>
            <a:ext cx="180748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PE" sz="2000" dirty="0">
                <a:latin typeface="Avenir Book" panose="02000503020000020003" pitchFamily="2" charset="0"/>
                <a:cs typeface="Arial" panose="020B0604020202020204" pitchFamily="34" charset="0"/>
              </a:rPr>
              <a:t>Marco </a:t>
            </a:r>
            <a:r>
              <a:rPr lang="en-US" altLang="es-PE" sz="2000" dirty="0" err="1">
                <a:latin typeface="Avenir Book" panose="02000503020000020003" pitchFamily="2" charset="0"/>
                <a:cs typeface="Arial" panose="020B0604020202020204" pitchFamily="34" charset="0"/>
              </a:rPr>
              <a:t>Teórico</a:t>
            </a:r>
            <a:endParaRPr lang="en-US" altLang="es-PE" sz="2000" dirty="0"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p:sp>
        <p:nvSpPr>
          <p:cNvPr id="75" name="TextBox 68">
            <a:extLst>
              <a:ext uri="{FF2B5EF4-FFF2-40B4-BE49-F238E27FC236}">
                <a16:creationId xmlns:a16="http://schemas.microsoft.com/office/drawing/2014/main" id="{8A55C8CC-D2A4-DE96-7A59-21D8794343E2}"/>
              </a:ext>
            </a:extLst>
          </p:cNvPr>
          <p:cNvSpPr txBox="1"/>
          <p:nvPr/>
        </p:nvSpPr>
        <p:spPr>
          <a:xfrm>
            <a:off x="738351" y="4795328"/>
            <a:ext cx="527710" cy="46166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algn="r"/>
            <a:r>
              <a:rPr lang="id-ID" sz="2400" b="1" dirty="0">
                <a:solidFill>
                  <a:srgbClr val="002060"/>
                </a:solidFill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76" name="Line 2">
            <a:extLst>
              <a:ext uri="{FF2B5EF4-FFF2-40B4-BE49-F238E27FC236}">
                <a16:creationId xmlns:a16="http://schemas.microsoft.com/office/drawing/2014/main" id="{F7042A78-0858-58DF-E1FA-34AAB55AECB6}"/>
              </a:ext>
            </a:extLst>
          </p:cNvPr>
          <p:cNvSpPr>
            <a:spLocks noChangeShapeType="1"/>
          </p:cNvSpPr>
          <p:nvPr/>
        </p:nvSpPr>
        <p:spPr bwMode="auto">
          <a:xfrm>
            <a:off x="6763409" y="2703672"/>
            <a:ext cx="3920945" cy="1523"/>
          </a:xfrm>
          <a:prstGeom prst="line">
            <a:avLst/>
          </a:prstGeom>
          <a:noFill/>
          <a:ln w="19050">
            <a:solidFill>
              <a:srgbClr val="002060"/>
            </a:solidFill>
            <a:prstDash val="sysDot"/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s-PE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Text Box 6">
            <a:extLst>
              <a:ext uri="{FF2B5EF4-FFF2-40B4-BE49-F238E27FC236}">
                <a16:creationId xmlns:a16="http://schemas.microsoft.com/office/drawing/2014/main" id="{B48FAA7C-AEEC-20A1-01A8-613E7616C0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9036" y="2285795"/>
            <a:ext cx="166584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PE" sz="2000" dirty="0" err="1">
                <a:latin typeface="Avenir Book" panose="02000503020000020003" pitchFamily="2" charset="0"/>
                <a:cs typeface="Arial" panose="020B0604020202020204" pitchFamily="34" charset="0"/>
              </a:rPr>
              <a:t>Metodología</a:t>
            </a:r>
            <a:endParaRPr lang="en-US" altLang="es-PE" sz="2000" dirty="0"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p:sp>
        <p:nvSpPr>
          <p:cNvPr id="78" name="TextBox 68">
            <a:extLst>
              <a:ext uri="{FF2B5EF4-FFF2-40B4-BE49-F238E27FC236}">
                <a16:creationId xmlns:a16="http://schemas.microsoft.com/office/drawing/2014/main" id="{44256274-0BD2-F838-0757-A5B8C133F1C7}"/>
              </a:ext>
            </a:extLst>
          </p:cNvPr>
          <p:cNvSpPr txBox="1"/>
          <p:nvPr/>
        </p:nvSpPr>
        <p:spPr>
          <a:xfrm>
            <a:off x="6222999" y="2256230"/>
            <a:ext cx="527710" cy="46166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algn="r"/>
            <a:r>
              <a:rPr lang="id-ID" sz="2400" b="1" dirty="0">
                <a:solidFill>
                  <a:srgbClr val="002060"/>
                </a:solidFill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</a:rPr>
              <a:t>05</a:t>
            </a:r>
          </a:p>
        </p:txBody>
      </p:sp>
      <p:sp>
        <p:nvSpPr>
          <p:cNvPr id="79" name="Line 2">
            <a:extLst>
              <a:ext uri="{FF2B5EF4-FFF2-40B4-BE49-F238E27FC236}">
                <a16:creationId xmlns:a16="http://schemas.microsoft.com/office/drawing/2014/main" id="{C9299BDC-2EB2-DB63-7BFE-7165C2EBA462}"/>
              </a:ext>
            </a:extLst>
          </p:cNvPr>
          <p:cNvSpPr>
            <a:spLocks noChangeShapeType="1"/>
          </p:cNvSpPr>
          <p:nvPr/>
        </p:nvSpPr>
        <p:spPr bwMode="auto">
          <a:xfrm>
            <a:off x="6777861" y="3555967"/>
            <a:ext cx="3920945" cy="1523"/>
          </a:xfrm>
          <a:prstGeom prst="line">
            <a:avLst/>
          </a:prstGeom>
          <a:noFill/>
          <a:ln w="19050">
            <a:solidFill>
              <a:srgbClr val="002060"/>
            </a:solidFill>
            <a:prstDash val="sysDot"/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s-PE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Text Box 6">
            <a:extLst>
              <a:ext uri="{FF2B5EF4-FFF2-40B4-BE49-F238E27FC236}">
                <a16:creationId xmlns:a16="http://schemas.microsoft.com/office/drawing/2014/main" id="{47BC787A-1665-C369-2963-895C2805E7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3488" y="3138090"/>
            <a:ext cx="397275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PE" sz="2000" dirty="0" err="1">
                <a:latin typeface="Avenir Book" panose="02000503020000020003" pitchFamily="2" charset="0"/>
                <a:cs typeface="Arial" panose="020B0604020202020204" pitchFamily="34" charset="0"/>
              </a:rPr>
              <a:t>Análisis</a:t>
            </a:r>
            <a:r>
              <a:rPr lang="en-US" altLang="es-PE" sz="2000" dirty="0">
                <a:latin typeface="Avenir Book" panose="02000503020000020003" pitchFamily="2" charset="0"/>
                <a:cs typeface="Arial" panose="020B0604020202020204" pitchFamily="34" charset="0"/>
              </a:rPr>
              <a:t> y </a:t>
            </a:r>
            <a:r>
              <a:rPr lang="en-US" altLang="es-PE" sz="2000" dirty="0" err="1">
                <a:latin typeface="Avenir Book" panose="02000503020000020003" pitchFamily="2" charset="0"/>
                <a:cs typeface="Arial" panose="020B0604020202020204" pitchFamily="34" charset="0"/>
              </a:rPr>
              <a:t>discusión</a:t>
            </a:r>
            <a:r>
              <a:rPr lang="en-US" altLang="es-PE" sz="2000" dirty="0">
                <a:latin typeface="Avenir Book" panose="02000503020000020003" pitchFamily="2" charset="0"/>
                <a:cs typeface="Arial" panose="020B0604020202020204" pitchFamily="34" charset="0"/>
              </a:rPr>
              <a:t> de </a:t>
            </a:r>
            <a:r>
              <a:rPr lang="en-US" altLang="es-PE" sz="2000" dirty="0" err="1">
                <a:latin typeface="Avenir Book" panose="02000503020000020003" pitchFamily="2" charset="0"/>
                <a:cs typeface="Arial" panose="020B0604020202020204" pitchFamily="34" charset="0"/>
              </a:rPr>
              <a:t>resultados</a:t>
            </a:r>
            <a:endParaRPr lang="en-US" altLang="es-PE" sz="2000" dirty="0"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p:sp>
        <p:nvSpPr>
          <p:cNvPr id="81" name="TextBox 68">
            <a:extLst>
              <a:ext uri="{FF2B5EF4-FFF2-40B4-BE49-F238E27FC236}">
                <a16:creationId xmlns:a16="http://schemas.microsoft.com/office/drawing/2014/main" id="{E50F76E6-6632-CF39-68ED-3ACAA4FEF57E}"/>
              </a:ext>
            </a:extLst>
          </p:cNvPr>
          <p:cNvSpPr txBox="1"/>
          <p:nvPr/>
        </p:nvSpPr>
        <p:spPr>
          <a:xfrm>
            <a:off x="6237451" y="3108525"/>
            <a:ext cx="527710" cy="46166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algn="r"/>
            <a:r>
              <a:rPr lang="id-ID" sz="2400" b="1" dirty="0">
                <a:solidFill>
                  <a:srgbClr val="002060"/>
                </a:solidFill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</a:rPr>
              <a:t>06</a:t>
            </a:r>
          </a:p>
        </p:txBody>
      </p:sp>
      <p:sp>
        <p:nvSpPr>
          <p:cNvPr id="82" name="Line 2">
            <a:extLst>
              <a:ext uri="{FF2B5EF4-FFF2-40B4-BE49-F238E27FC236}">
                <a16:creationId xmlns:a16="http://schemas.microsoft.com/office/drawing/2014/main" id="{4A1C6F4C-77B8-D5D9-349E-3EF58A31D0F1}"/>
              </a:ext>
            </a:extLst>
          </p:cNvPr>
          <p:cNvSpPr>
            <a:spLocks noChangeShapeType="1"/>
          </p:cNvSpPr>
          <p:nvPr/>
        </p:nvSpPr>
        <p:spPr bwMode="auto">
          <a:xfrm>
            <a:off x="6777861" y="4415654"/>
            <a:ext cx="3920945" cy="1523"/>
          </a:xfrm>
          <a:prstGeom prst="line">
            <a:avLst/>
          </a:prstGeom>
          <a:noFill/>
          <a:ln w="19050">
            <a:solidFill>
              <a:srgbClr val="002060"/>
            </a:solidFill>
            <a:prstDash val="sysDot"/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s-PE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Text Box 6">
            <a:extLst>
              <a:ext uri="{FF2B5EF4-FFF2-40B4-BE49-F238E27FC236}">
                <a16:creationId xmlns:a16="http://schemas.microsoft.com/office/drawing/2014/main" id="{E5B30A05-3463-08E6-4999-61CA22ED7F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3488" y="3997777"/>
            <a:ext cx="170431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PE" sz="2000" dirty="0" err="1">
                <a:latin typeface="Avenir Book" panose="02000503020000020003" pitchFamily="2" charset="0"/>
                <a:cs typeface="Arial" panose="020B0604020202020204" pitchFamily="34" charset="0"/>
              </a:rPr>
              <a:t>Conclusiones</a:t>
            </a:r>
            <a:endParaRPr lang="en-US" altLang="es-PE" sz="2000" dirty="0"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p:sp>
        <p:nvSpPr>
          <p:cNvPr id="84" name="TextBox 68">
            <a:extLst>
              <a:ext uri="{FF2B5EF4-FFF2-40B4-BE49-F238E27FC236}">
                <a16:creationId xmlns:a16="http://schemas.microsoft.com/office/drawing/2014/main" id="{C5CD2529-9BDD-186E-7228-3912B94DAD9B}"/>
              </a:ext>
            </a:extLst>
          </p:cNvPr>
          <p:cNvSpPr txBox="1"/>
          <p:nvPr/>
        </p:nvSpPr>
        <p:spPr>
          <a:xfrm>
            <a:off x="6237451" y="3968212"/>
            <a:ext cx="527710" cy="46166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algn="r"/>
            <a:r>
              <a:rPr lang="id-ID" sz="2400" b="1" dirty="0">
                <a:solidFill>
                  <a:srgbClr val="002060"/>
                </a:solidFill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</a:rPr>
              <a:t>07</a:t>
            </a:r>
          </a:p>
        </p:txBody>
      </p:sp>
      <p:sp>
        <p:nvSpPr>
          <p:cNvPr id="85" name="Line 2">
            <a:extLst>
              <a:ext uri="{FF2B5EF4-FFF2-40B4-BE49-F238E27FC236}">
                <a16:creationId xmlns:a16="http://schemas.microsoft.com/office/drawing/2014/main" id="{46DE2708-4A4B-049A-1025-F97E29771F6A}"/>
              </a:ext>
            </a:extLst>
          </p:cNvPr>
          <p:cNvSpPr>
            <a:spLocks noChangeShapeType="1"/>
          </p:cNvSpPr>
          <p:nvPr/>
        </p:nvSpPr>
        <p:spPr bwMode="auto">
          <a:xfrm>
            <a:off x="6777861" y="5272335"/>
            <a:ext cx="3920945" cy="1523"/>
          </a:xfrm>
          <a:prstGeom prst="line">
            <a:avLst/>
          </a:prstGeom>
          <a:noFill/>
          <a:ln w="19050">
            <a:solidFill>
              <a:srgbClr val="002060"/>
            </a:solidFill>
            <a:prstDash val="sysDot"/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s-PE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Text Box 6">
            <a:extLst>
              <a:ext uri="{FF2B5EF4-FFF2-40B4-BE49-F238E27FC236}">
                <a16:creationId xmlns:a16="http://schemas.microsoft.com/office/drawing/2014/main" id="{76133F5B-CEFE-85F9-83EF-1CAB19FDB4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3488" y="4854458"/>
            <a:ext cx="227979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PE" sz="2000" dirty="0" err="1">
                <a:latin typeface="Avenir Book" panose="02000503020000020003" pitchFamily="2" charset="0"/>
                <a:cs typeface="Arial" panose="020B0604020202020204" pitchFamily="34" charset="0"/>
              </a:rPr>
              <a:t>Recomendaciones</a:t>
            </a:r>
            <a:endParaRPr lang="en-US" altLang="es-PE" sz="2000" dirty="0"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p:sp>
        <p:nvSpPr>
          <p:cNvPr id="87" name="TextBox 68">
            <a:extLst>
              <a:ext uri="{FF2B5EF4-FFF2-40B4-BE49-F238E27FC236}">
                <a16:creationId xmlns:a16="http://schemas.microsoft.com/office/drawing/2014/main" id="{5644FF67-D7D3-2CDA-4979-9A88F06E9575}"/>
              </a:ext>
            </a:extLst>
          </p:cNvPr>
          <p:cNvSpPr txBox="1"/>
          <p:nvPr/>
        </p:nvSpPr>
        <p:spPr>
          <a:xfrm>
            <a:off x="6237451" y="4824893"/>
            <a:ext cx="527710" cy="46166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algn="r"/>
            <a:r>
              <a:rPr lang="id-ID" sz="2400" b="1" dirty="0">
                <a:solidFill>
                  <a:srgbClr val="002060"/>
                </a:solidFill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533842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301;p3">
            <a:extLst>
              <a:ext uri="{FF2B5EF4-FFF2-40B4-BE49-F238E27FC236}">
                <a16:creationId xmlns:a16="http://schemas.microsoft.com/office/drawing/2014/main" id="{EE660513-4C89-52AA-3EED-7C9A7977CEF4}"/>
              </a:ext>
            </a:extLst>
          </p:cNvPr>
          <p:cNvSpPr txBox="1"/>
          <p:nvPr/>
        </p:nvSpPr>
        <p:spPr>
          <a:xfrm flipH="1">
            <a:off x="8128692" y="4021489"/>
            <a:ext cx="336465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" sz="1400" b="0" i="0" u="none" strike="noStrike" cap="none" dirty="0">
              <a:solidFill>
                <a:schemeClr val="tx2"/>
              </a:solidFill>
              <a:latin typeface="Avenir Book" panose="02000503020000020003" pitchFamily="2" charset="0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 b="0" i="0" u="none" strike="noStrike" cap="none" dirty="0">
                <a:solidFill>
                  <a:schemeClr val="tx2"/>
                </a:solidFill>
                <a:latin typeface="Avenir Book" panose="02000503020000020003" pitchFamily="2" charset="0"/>
                <a:ea typeface="Arial"/>
                <a:cs typeface="Arial"/>
                <a:sym typeface="Arial"/>
              </a:rPr>
              <a:t> </a:t>
            </a:r>
            <a:endParaRPr dirty="0">
              <a:solidFill>
                <a:schemeClr val="tx2"/>
              </a:solidFill>
              <a:latin typeface="Avenir Book" panose="02000503020000020003" pitchFamily="2" charset="0"/>
            </a:endParaRPr>
          </a:p>
        </p:txBody>
      </p:sp>
      <p:sp>
        <p:nvSpPr>
          <p:cNvPr id="62" name="Google Shape;309;p3">
            <a:extLst>
              <a:ext uri="{FF2B5EF4-FFF2-40B4-BE49-F238E27FC236}">
                <a16:creationId xmlns:a16="http://schemas.microsoft.com/office/drawing/2014/main" id="{64527DBE-8DCA-DD95-1292-CF34010AA19C}"/>
              </a:ext>
            </a:extLst>
          </p:cNvPr>
          <p:cNvSpPr txBox="1"/>
          <p:nvPr/>
        </p:nvSpPr>
        <p:spPr>
          <a:xfrm>
            <a:off x="544068" y="625839"/>
            <a:ext cx="4700594" cy="591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lang="es-PE" sz="3600" b="1" i="0" u="none" strike="noStrike" cap="none" dirty="0">
                <a:latin typeface="Avenir Book" panose="02000503020000020003" pitchFamily="2" charset="0"/>
                <a:ea typeface="Arial"/>
                <a:cs typeface="Arial"/>
                <a:sym typeface="Arial"/>
              </a:rPr>
              <a:t>Problemática del TIC</a:t>
            </a:r>
            <a:endParaRPr sz="3600" b="1" i="0" u="none" strike="noStrike" cap="none" dirty="0">
              <a:latin typeface="Avenir Book" panose="02000503020000020003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64" name="Google Shape;311;p3">
            <a:extLst>
              <a:ext uri="{FF2B5EF4-FFF2-40B4-BE49-F238E27FC236}">
                <a16:creationId xmlns:a16="http://schemas.microsoft.com/office/drawing/2014/main" id="{B2B2D2DD-9DC5-2F3B-00BD-2CC2189E878B}"/>
              </a:ext>
            </a:extLst>
          </p:cNvPr>
          <p:cNvSpPr/>
          <p:nvPr/>
        </p:nvSpPr>
        <p:spPr>
          <a:xfrm flipH="1">
            <a:off x="5308835" y="2655650"/>
            <a:ext cx="1632181" cy="163218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rgbClr val="FFFFFF"/>
              </a:solidFill>
              <a:latin typeface="Avenir Book" panose="02000503020000020003" pitchFamily="2" charset="0"/>
              <a:ea typeface="Arial"/>
              <a:cs typeface="Arial"/>
              <a:sym typeface="Arial"/>
            </a:endParaRPr>
          </a:p>
        </p:txBody>
      </p:sp>
      <p:cxnSp>
        <p:nvCxnSpPr>
          <p:cNvPr id="71" name="Google Shape;318;p3">
            <a:extLst>
              <a:ext uri="{FF2B5EF4-FFF2-40B4-BE49-F238E27FC236}">
                <a16:creationId xmlns:a16="http://schemas.microsoft.com/office/drawing/2014/main" id="{FC61B337-DFD1-4D8D-B03E-6D7C95F84497}"/>
              </a:ext>
            </a:extLst>
          </p:cNvPr>
          <p:cNvCxnSpPr>
            <a:cxnSpLocks/>
            <a:stCxn id="64" idx="6"/>
          </p:cNvCxnSpPr>
          <p:nvPr/>
        </p:nvCxnSpPr>
        <p:spPr>
          <a:xfrm flipH="1" flipV="1">
            <a:off x="4829179" y="2587147"/>
            <a:ext cx="479656" cy="884594"/>
          </a:xfrm>
          <a:prstGeom prst="straightConnector1">
            <a:avLst/>
          </a:prstGeom>
          <a:noFill/>
          <a:ln w="9525" cap="flat" cmpd="sng">
            <a:solidFill>
              <a:srgbClr val="00206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2" name="Google Shape;319;p3">
            <a:extLst>
              <a:ext uri="{FF2B5EF4-FFF2-40B4-BE49-F238E27FC236}">
                <a16:creationId xmlns:a16="http://schemas.microsoft.com/office/drawing/2014/main" id="{1A1839EC-921C-052F-0C5C-D0ADE7146694}"/>
              </a:ext>
            </a:extLst>
          </p:cNvPr>
          <p:cNvCxnSpPr>
            <a:cxnSpLocks/>
          </p:cNvCxnSpPr>
          <p:nvPr/>
        </p:nvCxnSpPr>
        <p:spPr>
          <a:xfrm>
            <a:off x="6833145" y="3262353"/>
            <a:ext cx="907654" cy="0"/>
          </a:xfrm>
          <a:prstGeom prst="straightConnector1">
            <a:avLst/>
          </a:prstGeom>
          <a:noFill/>
          <a:ln w="9525" cap="flat" cmpd="sng">
            <a:solidFill>
              <a:srgbClr val="00206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9" name="Google Shape;347;p4">
            <a:extLst>
              <a:ext uri="{FF2B5EF4-FFF2-40B4-BE49-F238E27FC236}">
                <a16:creationId xmlns:a16="http://schemas.microsoft.com/office/drawing/2014/main" id="{2D95DA9E-7CD2-8567-1AD5-97527203B78C}"/>
              </a:ext>
            </a:extLst>
          </p:cNvPr>
          <p:cNvSpPr/>
          <p:nvPr/>
        </p:nvSpPr>
        <p:spPr>
          <a:xfrm>
            <a:off x="0" y="1433020"/>
            <a:ext cx="1576552" cy="66507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 Book" panose="02000503020000020003" pitchFamily="2" charset="0"/>
              <a:ea typeface="Calibri"/>
              <a:cs typeface="Calibri"/>
              <a:sym typeface="Calibri"/>
            </a:endParaRPr>
          </a:p>
        </p:txBody>
      </p:sp>
      <p:cxnSp>
        <p:nvCxnSpPr>
          <p:cNvPr id="105" name="Google Shape;320;p3">
            <a:extLst>
              <a:ext uri="{FF2B5EF4-FFF2-40B4-BE49-F238E27FC236}">
                <a16:creationId xmlns:a16="http://schemas.microsoft.com/office/drawing/2014/main" id="{4726BEC0-66A7-BD79-0BF5-31DBE35BAF6D}"/>
              </a:ext>
            </a:extLst>
          </p:cNvPr>
          <p:cNvCxnSpPr>
            <a:cxnSpLocks/>
            <a:stCxn id="64" idx="6"/>
          </p:cNvCxnSpPr>
          <p:nvPr/>
        </p:nvCxnSpPr>
        <p:spPr>
          <a:xfrm flipH="1">
            <a:off x="4775699" y="3471741"/>
            <a:ext cx="533136" cy="968346"/>
          </a:xfrm>
          <a:prstGeom prst="straightConnector1">
            <a:avLst/>
          </a:prstGeom>
          <a:noFill/>
          <a:ln w="9525" cap="flat" cmpd="sng">
            <a:solidFill>
              <a:srgbClr val="00206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026" name="Picture 2" descr="Vector illustration of a lightbulb made up of colorful jigsaw puzzle pieces cut out on transparent png background">
            <a:extLst>
              <a:ext uri="{FF2B5EF4-FFF2-40B4-BE49-F238E27FC236}">
                <a16:creationId xmlns:a16="http://schemas.microsoft.com/office/drawing/2014/main" id="{920FE025-D876-758E-3B87-82A3AEC08A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6336" y="2245329"/>
            <a:ext cx="2296248" cy="2637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64E59D29-81FF-D882-24A7-795F5BB5B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90" y="1772193"/>
            <a:ext cx="3965178" cy="125725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A6BC616-27E4-75C6-417C-9C68A78694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441" y="3915604"/>
            <a:ext cx="3927327" cy="125813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18D40E9-7679-4D5B-72A7-8492B686EC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7353" y="2519193"/>
            <a:ext cx="3927327" cy="148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44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329;p4">
            <a:extLst>
              <a:ext uri="{FF2B5EF4-FFF2-40B4-BE49-F238E27FC236}">
                <a16:creationId xmlns:a16="http://schemas.microsoft.com/office/drawing/2014/main" id="{BB696887-E99C-40A5-BB27-D50702F4529E}"/>
              </a:ext>
            </a:extLst>
          </p:cNvPr>
          <p:cNvSpPr/>
          <p:nvPr/>
        </p:nvSpPr>
        <p:spPr>
          <a:xfrm rot="-5400000" flipH="1">
            <a:off x="9026065" y="273312"/>
            <a:ext cx="1073903" cy="5021995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chemeClr val="accent1">
                  <a:lumMod val="50000"/>
                </a:schemeClr>
              </a:solidFill>
              <a:latin typeface="Avenir Book" panose="02000503020000020003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44" name="Google Shape;330;p4">
            <a:extLst>
              <a:ext uri="{FF2B5EF4-FFF2-40B4-BE49-F238E27FC236}">
                <a16:creationId xmlns:a16="http://schemas.microsoft.com/office/drawing/2014/main" id="{DDDAE143-5F4C-6554-5288-D29924C20CC9}"/>
              </a:ext>
            </a:extLst>
          </p:cNvPr>
          <p:cNvSpPr/>
          <p:nvPr/>
        </p:nvSpPr>
        <p:spPr>
          <a:xfrm flipH="1">
            <a:off x="6912250" y="2502554"/>
            <a:ext cx="563511" cy="563511"/>
          </a:xfrm>
          <a:prstGeom prst="ellipse">
            <a:avLst/>
          </a:prstGeom>
          <a:solidFill>
            <a:schemeClr val="lt1"/>
          </a:solidFill>
          <a:ln>
            <a:solidFill>
              <a:schemeClr val="accent1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rgbClr val="FFFFFF"/>
              </a:solidFill>
              <a:latin typeface="Avenir Book" panose="02000503020000020003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45" name="Google Shape;331;p4">
            <a:extLst>
              <a:ext uri="{FF2B5EF4-FFF2-40B4-BE49-F238E27FC236}">
                <a16:creationId xmlns:a16="http://schemas.microsoft.com/office/drawing/2014/main" id="{4BB40307-7AB1-0339-9632-7621EED1AC27}"/>
              </a:ext>
            </a:extLst>
          </p:cNvPr>
          <p:cNvSpPr txBox="1"/>
          <p:nvPr/>
        </p:nvSpPr>
        <p:spPr>
          <a:xfrm flipH="1">
            <a:off x="6868699" y="2532690"/>
            <a:ext cx="650613" cy="502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667"/>
              <a:buFont typeface="Arial"/>
              <a:buNone/>
            </a:pPr>
            <a:r>
              <a:rPr lang="es-PE" sz="2667" b="1" i="0" u="none" strike="noStrike" cap="none" dirty="0">
                <a:solidFill>
                  <a:srgbClr val="0070C0"/>
                </a:solidFill>
                <a:latin typeface="Avenir Book" panose="02000503020000020003" pitchFamily="2" charset="0"/>
                <a:ea typeface="Arial"/>
                <a:cs typeface="Arial"/>
                <a:sym typeface="Arial"/>
              </a:rPr>
              <a:t>02</a:t>
            </a:r>
            <a:endParaRPr sz="2667" b="1" i="0" u="none" strike="noStrike" cap="none" dirty="0">
              <a:solidFill>
                <a:srgbClr val="0070C0"/>
              </a:solidFill>
              <a:latin typeface="Avenir Book" panose="02000503020000020003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46" name="Google Shape;332;p4">
            <a:extLst>
              <a:ext uri="{FF2B5EF4-FFF2-40B4-BE49-F238E27FC236}">
                <a16:creationId xmlns:a16="http://schemas.microsoft.com/office/drawing/2014/main" id="{C395276E-ADB6-D6B4-933F-35F13CF7110B}"/>
              </a:ext>
            </a:extLst>
          </p:cNvPr>
          <p:cNvSpPr/>
          <p:nvPr/>
        </p:nvSpPr>
        <p:spPr>
          <a:xfrm rot="-5400000" flipH="1">
            <a:off x="9071611" y="1600050"/>
            <a:ext cx="1073903" cy="4930903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rgbClr val="FFFFFF"/>
              </a:solidFill>
              <a:latin typeface="Avenir Book" panose="02000503020000020003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47" name="Google Shape;333;p4">
            <a:extLst>
              <a:ext uri="{FF2B5EF4-FFF2-40B4-BE49-F238E27FC236}">
                <a16:creationId xmlns:a16="http://schemas.microsoft.com/office/drawing/2014/main" id="{2B4CB9AD-3F64-E870-C913-6B947D4606C8}"/>
              </a:ext>
            </a:extLst>
          </p:cNvPr>
          <p:cNvSpPr/>
          <p:nvPr/>
        </p:nvSpPr>
        <p:spPr>
          <a:xfrm flipH="1">
            <a:off x="6912250" y="3783746"/>
            <a:ext cx="563511" cy="563511"/>
          </a:xfrm>
          <a:prstGeom prst="ellipse">
            <a:avLst/>
          </a:prstGeom>
          <a:solidFill>
            <a:schemeClr val="lt1"/>
          </a:solidFill>
          <a:ln>
            <a:solidFill>
              <a:schemeClr val="accent1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rgbClr val="FFFFFF"/>
              </a:solidFill>
              <a:latin typeface="Avenir Book" panose="02000503020000020003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48" name="Google Shape;334;p4">
            <a:extLst>
              <a:ext uri="{FF2B5EF4-FFF2-40B4-BE49-F238E27FC236}">
                <a16:creationId xmlns:a16="http://schemas.microsoft.com/office/drawing/2014/main" id="{F592E01B-A87C-0CC3-D759-AF8EE32E2F0D}"/>
              </a:ext>
            </a:extLst>
          </p:cNvPr>
          <p:cNvSpPr txBox="1"/>
          <p:nvPr/>
        </p:nvSpPr>
        <p:spPr>
          <a:xfrm flipH="1">
            <a:off x="6868699" y="3814118"/>
            <a:ext cx="650613" cy="502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667"/>
              <a:buFont typeface="Arial"/>
              <a:buNone/>
            </a:pPr>
            <a:r>
              <a:rPr lang="es-PE" sz="2667" b="1" i="0" u="none" strike="noStrike" cap="none" dirty="0">
                <a:solidFill>
                  <a:srgbClr val="002060"/>
                </a:solidFill>
                <a:latin typeface="Avenir Book" panose="02000503020000020003" pitchFamily="2" charset="0"/>
                <a:ea typeface="Arial"/>
                <a:cs typeface="Arial"/>
                <a:sym typeface="Arial"/>
              </a:rPr>
              <a:t>03</a:t>
            </a:r>
            <a:endParaRPr sz="2667" b="1" i="0" u="none" strike="noStrike" cap="none" dirty="0">
              <a:solidFill>
                <a:srgbClr val="002060"/>
              </a:solidFill>
              <a:latin typeface="Avenir Book" panose="02000503020000020003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49" name="Google Shape;335;p4">
            <a:extLst>
              <a:ext uri="{FF2B5EF4-FFF2-40B4-BE49-F238E27FC236}">
                <a16:creationId xmlns:a16="http://schemas.microsoft.com/office/drawing/2014/main" id="{C61097C3-EBF9-02E1-D714-A8E2A8C5D4E0}"/>
              </a:ext>
            </a:extLst>
          </p:cNvPr>
          <p:cNvSpPr/>
          <p:nvPr/>
        </p:nvSpPr>
        <p:spPr>
          <a:xfrm rot="-5400000" flipH="1">
            <a:off x="9080461" y="2934774"/>
            <a:ext cx="1073903" cy="4913203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rgbClr val="FFFFFF"/>
              </a:solidFill>
              <a:latin typeface="Avenir Book" panose="02000503020000020003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50" name="Google Shape;336;p4">
            <a:extLst>
              <a:ext uri="{FF2B5EF4-FFF2-40B4-BE49-F238E27FC236}">
                <a16:creationId xmlns:a16="http://schemas.microsoft.com/office/drawing/2014/main" id="{A25B02A4-BBC6-083F-4D5B-4D310C048995}"/>
              </a:ext>
            </a:extLst>
          </p:cNvPr>
          <p:cNvSpPr/>
          <p:nvPr/>
        </p:nvSpPr>
        <p:spPr>
          <a:xfrm flipH="1">
            <a:off x="6912250" y="5109620"/>
            <a:ext cx="563511" cy="563511"/>
          </a:xfrm>
          <a:prstGeom prst="ellipse">
            <a:avLst/>
          </a:prstGeom>
          <a:solidFill>
            <a:schemeClr val="lt1"/>
          </a:solidFill>
          <a:ln>
            <a:solidFill>
              <a:schemeClr val="accent1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rgbClr val="FFFFFF"/>
              </a:solidFill>
              <a:latin typeface="Avenir Book" panose="02000503020000020003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51" name="Google Shape;337;p4">
            <a:extLst>
              <a:ext uri="{FF2B5EF4-FFF2-40B4-BE49-F238E27FC236}">
                <a16:creationId xmlns:a16="http://schemas.microsoft.com/office/drawing/2014/main" id="{F130C8EB-26EA-A603-8E92-51262C486564}"/>
              </a:ext>
            </a:extLst>
          </p:cNvPr>
          <p:cNvSpPr txBox="1"/>
          <p:nvPr/>
        </p:nvSpPr>
        <p:spPr>
          <a:xfrm flipH="1">
            <a:off x="6868699" y="5139992"/>
            <a:ext cx="650613" cy="502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667"/>
              <a:buFont typeface="Arial"/>
              <a:buNone/>
            </a:pPr>
            <a:r>
              <a:rPr lang="es-PE" sz="2667" b="1" i="0" u="none" strike="noStrike" cap="none" dirty="0">
                <a:solidFill>
                  <a:srgbClr val="0070C0"/>
                </a:solidFill>
                <a:latin typeface="Avenir Book" panose="02000503020000020003" pitchFamily="2" charset="0"/>
                <a:ea typeface="Arial"/>
                <a:cs typeface="Arial"/>
                <a:sym typeface="Arial"/>
              </a:rPr>
              <a:t>04</a:t>
            </a:r>
            <a:endParaRPr sz="2667" b="1" i="0" u="none" strike="noStrike" cap="none" dirty="0">
              <a:solidFill>
                <a:srgbClr val="0070C0"/>
              </a:solidFill>
              <a:latin typeface="Avenir Book" panose="02000503020000020003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52" name="Google Shape;338;p4">
            <a:extLst>
              <a:ext uri="{FF2B5EF4-FFF2-40B4-BE49-F238E27FC236}">
                <a16:creationId xmlns:a16="http://schemas.microsoft.com/office/drawing/2014/main" id="{38E48FF9-3454-1314-8582-F47A835436C9}"/>
              </a:ext>
            </a:extLst>
          </p:cNvPr>
          <p:cNvSpPr txBox="1"/>
          <p:nvPr/>
        </p:nvSpPr>
        <p:spPr>
          <a:xfrm flipH="1">
            <a:off x="7423017" y="2522719"/>
            <a:ext cx="4236141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s-ES" sz="1400" dirty="0">
                <a:solidFill>
                  <a:schemeClr val="tx2"/>
                </a:solidFill>
                <a:latin typeface="Avenir Book" panose="02000503020000020003" pitchFamily="2" charset="0"/>
                <a:ea typeface="Arial"/>
                <a:cs typeface="Arial"/>
                <a:sym typeface="Arial"/>
              </a:rPr>
              <a:t>2. Entrenar y validar un modelo de Machine </a:t>
            </a:r>
            <a:r>
              <a:rPr lang="es-ES" sz="1400" dirty="0" err="1">
                <a:solidFill>
                  <a:schemeClr val="tx2"/>
                </a:solidFill>
                <a:latin typeface="Avenir Book" panose="02000503020000020003" pitchFamily="2" charset="0"/>
                <a:ea typeface="Arial"/>
                <a:cs typeface="Arial"/>
                <a:sym typeface="Arial"/>
              </a:rPr>
              <a:t>Learning</a:t>
            </a:r>
            <a:r>
              <a:rPr lang="es-ES" sz="1400" dirty="0">
                <a:solidFill>
                  <a:schemeClr val="tx2"/>
                </a:solidFill>
                <a:latin typeface="Avenir Book" panose="02000503020000020003" pitchFamily="2" charset="0"/>
                <a:ea typeface="Arial"/>
                <a:cs typeface="Arial"/>
                <a:sym typeface="Arial"/>
              </a:rPr>
              <a:t> con datos históricos de clientes.</a:t>
            </a:r>
            <a:endParaRPr dirty="0">
              <a:solidFill>
                <a:schemeClr val="tx2"/>
              </a:solidFill>
              <a:latin typeface="Avenir Book" panose="02000503020000020003" pitchFamily="2" charset="0"/>
            </a:endParaRPr>
          </a:p>
        </p:txBody>
      </p:sp>
      <p:sp>
        <p:nvSpPr>
          <p:cNvPr id="53" name="Google Shape;339;p4">
            <a:extLst>
              <a:ext uri="{FF2B5EF4-FFF2-40B4-BE49-F238E27FC236}">
                <a16:creationId xmlns:a16="http://schemas.microsoft.com/office/drawing/2014/main" id="{856BDC22-AFE5-FD2E-0662-E7224300E86E}"/>
              </a:ext>
            </a:extLst>
          </p:cNvPr>
          <p:cNvSpPr txBox="1"/>
          <p:nvPr/>
        </p:nvSpPr>
        <p:spPr>
          <a:xfrm flipH="1">
            <a:off x="7648260" y="3803911"/>
            <a:ext cx="4130783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lt1"/>
                </a:solidFill>
                <a:latin typeface="Avenir Book" panose="02000503020000020003" pitchFamily="2" charset="0"/>
                <a:ea typeface="Arial"/>
                <a:cs typeface="Arial"/>
                <a:sym typeface="Arial"/>
              </a:rPr>
              <a:t>3. Desarrollar una app web en Django que integre el modelo predictivo y genere reportes automáticos.</a:t>
            </a:r>
            <a:endParaRPr dirty="0">
              <a:latin typeface="Avenir Book" panose="02000503020000020003" pitchFamily="2" charset="0"/>
            </a:endParaRPr>
          </a:p>
        </p:txBody>
      </p:sp>
      <p:sp>
        <p:nvSpPr>
          <p:cNvPr id="54" name="Google Shape;340;p4">
            <a:extLst>
              <a:ext uri="{FF2B5EF4-FFF2-40B4-BE49-F238E27FC236}">
                <a16:creationId xmlns:a16="http://schemas.microsoft.com/office/drawing/2014/main" id="{07389350-C975-52BF-CDAF-1B2BAE5B428F}"/>
              </a:ext>
            </a:extLst>
          </p:cNvPr>
          <p:cNvSpPr txBox="1"/>
          <p:nvPr/>
        </p:nvSpPr>
        <p:spPr>
          <a:xfrm flipH="1">
            <a:off x="7648261" y="5129785"/>
            <a:ext cx="424697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latin typeface="Avenir Book" panose="02000503020000020003" pitchFamily="2" charset="0"/>
                <a:ea typeface="Arial"/>
                <a:cs typeface="Arial"/>
                <a:sym typeface="Arial"/>
              </a:rPr>
              <a:t>4. Evaluar el desempeño del sistema mediante pruebas de precisión y validación con usuarios internos.</a:t>
            </a:r>
            <a:endParaRPr dirty="0">
              <a:latin typeface="Avenir Book" panose="02000503020000020003" pitchFamily="2" charset="0"/>
            </a:endParaRPr>
          </a:p>
        </p:txBody>
      </p:sp>
      <p:sp>
        <p:nvSpPr>
          <p:cNvPr id="56" name="Google Shape;342;p4">
            <a:extLst>
              <a:ext uri="{FF2B5EF4-FFF2-40B4-BE49-F238E27FC236}">
                <a16:creationId xmlns:a16="http://schemas.microsoft.com/office/drawing/2014/main" id="{C5651397-06CD-9FC8-2FE3-799AFAB98098}"/>
              </a:ext>
            </a:extLst>
          </p:cNvPr>
          <p:cNvSpPr txBox="1"/>
          <p:nvPr/>
        </p:nvSpPr>
        <p:spPr>
          <a:xfrm flipH="1">
            <a:off x="7515951" y="339568"/>
            <a:ext cx="379754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000" b="1" dirty="0">
                <a:latin typeface="Avenir Book" panose="02000503020000020003" pitchFamily="2" charset="0"/>
                <a:ea typeface="Arial"/>
                <a:cs typeface="Arial"/>
                <a:sym typeface="Arial"/>
              </a:rPr>
              <a:t>Objetivos específicos</a:t>
            </a:r>
            <a:endParaRPr sz="2000" b="1" dirty="0">
              <a:latin typeface="Avenir Book" panose="02000503020000020003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57" name="Google Shape;343;p4">
            <a:extLst>
              <a:ext uri="{FF2B5EF4-FFF2-40B4-BE49-F238E27FC236}">
                <a16:creationId xmlns:a16="http://schemas.microsoft.com/office/drawing/2014/main" id="{DEDDFC9A-9D43-BAC4-CBD3-39AFF12EF782}"/>
              </a:ext>
            </a:extLst>
          </p:cNvPr>
          <p:cNvSpPr/>
          <p:nvPr/>
        </p:nvSpPr>
        <p:spPr>
          <a:xfrm rot="-5400000" flipH="1">
            <a:off x="9026890" y="-1195097"/>
            <a:ext cx="1073903" cy="5121650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rgbClr val="FFFFFF"/>
              </a:solidFill>
              <a:latin typeface="Avenir Book" panose="02000503020000020003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58" name="Google Shape;344;p4">
            <a:extLst>
              <a:ext uri="{FF2B5EF4-FFF2-40B4-BE49-F238E27FC236}">
                <a16:creationId xmlns:a16="http://schemas.microsoft.com/office/drawing/2014/main" id="{C8145CD4-EACC-9030-C898-44C2736246A5}"/>
              </a:ext>
            </a:extLst>
          </p:cNvPr>
          <p:cNvSpPr/>
          <p:nvPr/>
        </p:nvSpPr>
        <p:spPr>
          <a:xfrm flipH="1">
            <a:off x="6912250" y="1083973"/>
            <a:ext cx="563511" cy="563511"/>
          </a:xfrm>
          <a:prstGeom prst="ellipse">
            <a:avLst/>
          </a:prstGeom>
          <a:solidFill>
            <a:schemeClr val="lt1"/>
          </a:solidFill>
          <a:ln>
            <a:solidFill>
              <a:schemeClr val="accent1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rgbClr val="FFFFFF"/>
              </a:solidFill>
              <a:latin typeface="Avenir Book" panose="02000503020000020003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59" name="Google Shape;345;p4">
            <a:extLst>
              <a:ext uri="{FF2B5EF4-FFF2-40B4-BE49-F238E27FC236}">
                <a16:creationId xmlns:a16="http://schemas.microsoft.com/office/drawing/2014/main" id="{33E0EC40-8C50-F15A-CB0C-D55CAADF9C23}"/>
              </a:ext>
            </a:extLst>
          </p:cNvPr>
          <p:cNvSpPr txBox="1"/>
          <p:nvPr/>
        </p:nvSpPr>
        <p:spPr>
          <a:xfrm flipH="1">
            <a:off x="6868699" y="1114345"/>
            <a:ext cx="650613" cy="502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667"/>
              <a:buFont typeface="Arial"/>
              <a:buNone/>
            </a:pPr>
            <a:r>
              <a:rPr lang="es-PE" sz="2667" b="1" i="0" u="none" strike="noStrike" cap="none" dirty="0">
                <a:solidFill>
                  <a:srgbClr val="002060"/>
                </a:solidFill>
                <a:latin typeface="Avenir Book" panose="02000503020000020003" pitchFamily="2" charset="0"/>
                <a:ea typeface="Arial"/>
                <a:cs typeface="Arial"/>
                <a:sym typeface="Arial"/>
              </a:rPr>
              <a:t>01</a:t>
            </a:r>
            <a:endParaRPr sz="2667" b="1" i="0" u="none" strike="noStrike" cap="none" dirty="0">
              <a:solidFill>
                <a:srgbClr val="002060"/>
              </a:solidFill>
              <a:latin typeface="Avenir Book" panose="02000503020000020003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60" name="Google Shape;346;p4">
            <a:extLst>
              <a:ext uri="{FF2B5EF4-FFF2-40B4-BE49-F238E27FC236}">
                <a16:creationId xmlns:a16="http://schemas.microsoft.com/office/drawing/2014/main" id="{EB94C72F-C437-293F-9C0D-9A51D85ED67F}"/>
              </a:ext>
            </a:extLst>
          </p:cNvPr>
          <p:cNvSpPr txBox="1"/>
          <p:nvPr/>
        </p:nvSpPr>
        <p:spPr>
          <a:xfrm flipH="1">
            <a:off x="7314946" y="1104138"/>
            <a:ext cx="4604931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lt1"/>
                </a:solidFill>
                <a:latin typeface="Avenir Book" panose="02000503020000020003" pitchFamily="2" charset="0"/>
                <a:ea typeface="Arial"/>
                <a:cs typeface="Arial"/>
                <a:sym typeface="Arial"/>
              </a:rPr>
              <a:t>1. Analizar los procesos actuales de evaluación crediticia y determinar variables relevantes para la predicción</a:t>
            </a:r>
            <a:endParaRPr dirty="0">
              <a:latin typeface="Avenir Book" panose="02000503020000020003" pitchFamily="2" charset="0"/>
            </a:endParaRPr>
          </a:p>
        </p:txBody>
      </p:sp>
      <p:sp>
        <p:nvSpPr>
          <p:cNvPr id="61" name="Google Shape;347;p4">
            <a:extLst>
              <a:ext uri="{FF2B5EF4-FFF2-40B4-BE49-F238E27FC236}">
                <a16:creationId xmlns:a16="http://schemas.microsoft.com/office/drawing/2014/main" id="{083C6B8A-BD9A-B1E3-42F5-5FCD80F7C628}"/>
              </a:ext>
            </a:extLst>
          </p:cNvPr>
          <p:cNvSpPr/>
          <p:nvPr/>
        </p:nvSpPr>
        <p:spPr>
          <a:xfrm>
            <a:off x="0" y="1433020"/>
            <a:ext cx="1576552" cy="66507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 Book" panose="02000503020000020003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348;p4">
            <a:extLst>
              <a:ext uri="{FF2B5EF4-FFF2-40B4-BE49-F238E27FC236}">
                <a16:creationId xmlns:a16="http://schemas.microsoft.com/office/drawing/2014/main" id="{63FD124D-D198-8DFC-10FC-825118CAD26C}"/>
              </a:ext>
            </a:extLst>
          </p:cNvPr>
          <p:cNvSpPr txBox="1"/>
          <p:nvPr/>
        </p:nvSpPr>
        <p:spPr>
          <a:xfrm>
            <a:off x="720937" y="529226"/>
            <a:ext cx="3924635" cy="62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lang="es-PE" sz="3600" b="1" dirty="0">
                <a:latin typeface="Avenir Book" panose="02000503020000020003" pitchFamily="2" charset="0"/>
                <a:ea typeface="Arial"/>
                <a:cs typeface="Arial"/>
                <a:sym typeface="Arial"/>
              </a:rPr>
              <a:t>Objetivo del TIC</a:t>
            </a:r>
            <a:endParaRPr sz="3600" b="1" dirty="0">
              <a:latin typeface="Avenir Book" panose="02000503020000020003" pitchFamily="2" charset="0"/>
              <a:ea typeface="Arial"/>
              <a:cs typeface="Arial"/>
              <a:sym typeface="Arial"/>
            </a:endParaRPr>
          </a:p>
        </p:txBody>
      </p:sp>
      <p:grpSp>
        <p:nvGrpSpPr>
          <p:cNvPr id="63" name="Google Shape;349;p4">
            <a:extLst>
              <a:ext uri="{FF2B5EF4-FFF2-40B4-BE49-F238E27FC236}">
                <a16:creationId xmlns:a16="http://schemas.microsoft.com/office/drawing/2014/main" id="{A877163F-BEAE-0390-9D47-808577B84E86}"/>
              </a:ext>
            </a:extLst>
          </p:cNvPr>
          <p:cNvGrpSpPr/>
          <p:nvPr/>
        </p:nvGrpSpPr>
        <p:grpSpPr>
          <a:xfrm>
            <a:off x="4011460" y="2221838"/>
            <a:ext cx="2625704" cy="2380616"/>
            <a:chOff x="4448748" y="3060629"/>
            <a:chExt cx="1632181" cy="1632181"/>
          </a:xfrm>
        </p:grpSpPr>
        <p:sp>
          <p:nvSpPr>
            <p:cNvPr id="64" name="Google Shape;350;p4">
              <a:extLst>
                <a:ext uri="{FF2B5EF4-FFF2-40B4-BE49-F238E27FC236}">
                  <a16:creationId xmlns:a16="http://schemas.microsoft.com/office/drawing/2014/main" id="{1522517D-14D1-C6D6-7E76-84B9EC2CAE4D}"/>
                </a:ext>
              </a:extLst>
            </p:cNvPr>
            <p:cNvSpPr/>
            <p:nvPr/>
          </p:nvSpPr>
          <p:spPr>
            <a:xfrm flipH="1">
              <a:off x="4448748" y="3060629"/>
              <a:ext cx="1632181" cy="1632181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FFFFFF"/>
                </a:solidFill>
                <a:latin typeface="Avenir Book" panose="02000503020000020003" pitchFamily="2" charset="0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5" name="Google Shape;351;p4">
              <a:extLst>
                <a:ext uri="{FF2B5EF4-FFF2-40B4-BE49-F238E27FC236}">
                  <a16:creationId xmlns:a16="http://schemas.microsoft.com/office/drawing/2014/main" id="{948BC713-79D6-B988-6747-B728FC345ED1}"/>
                </a:ext>
              </a:extLst>
            </p:cNvPr>
            <p:cNvGrpSpPr/>
            <p:nvPr/>
          </p:nvGrpSpPr>
          <p:grpSpPr>
            <a:xfrm rot="2700000" flipH="1">
              <a:off x="5051055" y="3363160"/>
              <a:ext cx="515216" cy="1097284"/>
              <a:chOff x="6777274" y="1831284"/>
              <a:chExt cx="552841" cy="1177414"/>
            </a:xfrm>
          </p:grpSpPr>
          <p:grpSp>
            <p:nvGrpSpPr>
              <p:cNvPr id="66" name="Google Shape;352;p4">
                <a:extLst>
                  <a:ext uri="{FF2B5EF4-FFF2-40B4-BE49-F238E27FC236}">
                    <a16:creationId xmlns:a16="http://schemas.microsoft.com/office/drawing/2014/main" id="{62917543-05C5-3D8D-4BC7-79A27C3BD2EA}"/>
                  </a:ext>
                </a:extLst>
              </p:cNvPr>
              <p:cNvGrpSpPr/>
              <p:nvPr/>
            </p:nvGrpSpPr>
            <p:grpSpPr>
              <a:xfrm>
                <a:off x="6939980" y="1831284"/>
                <a:ext cx="385719" cy="718117"/>
                <a:chOff x="6783521" y="1654812"/>
                <a:chExt cx="726841" cy="1353205"/>
              </a:xfrm>
            </p:grpSpPr>
            <p:sp>
              <p:nvSpPr>
                <p:cNvPr id="68" name="Google Shape;353;p4">
                  <a:extLst>
                    <a:ext uri="{FF2B5EF4-FFF2-40B4-BE49-F238E27FC236}">
                      <a16:creationId xmlns:a16="http://schemas.microsoft.com/office/drawing/2014/main" id="{C2FD2277-3EC8-5A72-68CB-C751DC1ACCE3}"/>
                    </a:ext>
                  </a:extLst>
                </p:cNvPr>
                <p:cNvSpPr/>
                <p:nvPr/>
              </p:nvSpPr>
              <p:spPr>
                <a:xfrm>
                  <a:off x="6783521" y="1886618"/>
                  <a:ext cx="726841" cy="11213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841" h="1121399" extrusionOk="0">
                      <a:moveTo>
                        <a:pt x="236325" y="1049494"/>
                      </a:moveTo>
                      <a:lnTo>
                        <a:pt x="495287" y="1049494"/>
                      </a:lnTo>
                      <a:cubicBezTo>
                        <a:pt x="491080" y="1064561"/>
                        <a:pt x="487966" y="1079199"/>
                        <a:pt x="485273" y="1093187"/>
                      </a:cubicBezTo>
                      <a:lnTo>
                        <a:pt x="245258" y="1092728"/>
                      </a:lnTo>
                      <a:close/>
                      <a:moveTo>
                        <a:pt x="363421" y="203844"/>
                      </a:moveTo>
                      <a:cubicBezTo>
                        <a:pt x="401307" y="203844"/>
                        <a:pt x="432020" y="234557"/>
                        <a:pt x="432020" y="272443"/>
                      </a:cubicBezTo>
                      <a:cubicBezTo>
                        <a:pt x="432020" y="310329"/>
                        <a:pt x="401307" y="341042"/>
                        <a:pt x="363421" y="341042"/>
                      </a:cubicBezTo>
                      <a:cubicBezTo>
                        <a:pt x="325534" y="341042"/>
                        <a:pt x="294821" y="310329"/>
                        <a:pt x="294821" y="272443"/>
                      </a:cubicBezTo>
                      <a:cubicBezTo>
                        <a:pt x="294821" y="234557"/>
                        <a:pt x="325534" y="203844"/>
                        <a:pt x="363421" y="203844"/>
                      </a:cubicBezTo>
                      <a:close/>
                      <a:moveTo>
                        <a:pt x="363421" y="135244"/>
                      </a:moveTo>
                      <a:cubicBezTo>
                        <a:pt x="287648" y="135244"/>
                        <a:pt x="226222" y="196671"/>
                        <a:pt x="226222" y="272443"/>
                      </a:cubicBezTo>
                      <a:cubicBezTo>
                        <a:pt x="226222" y="348216"/>
                        <a:pt x="287648" y="409642"/>
                        <a:pt x="363421" y="409642"/>
                      </a:cubicBezTo>
                      <a:cubicBezTo>
                        <a:pt x="439193" y="409642"/>
                        <a:pt x="500619" y="348216"/>
                        <a:pt x="500619" y="272443"/>
                      </a:cubicBezTo>
                      <a:cubicBezTo>
                        <a:pt x="500619" y="196671"/>
                        <a:pt x="439193" y="135244"/>
                        <a:pt x="363421" y="135244"/>
                      </a:cubicBezTo>
                      <a:close/>
                      <a:moveTo>
                        <a:pt x="196200" y="0"/>
                      </a:moveTo>
                      <a:cubicBezTo>
                        <a:pt x="300307" y="58658"/>
                        <a:pt x="427219" y="59450"/>
                        <a:pt x="531959" y="2129"/>
                      </a:cubicBezTo>
                      <a:cubicBezTo>
                        <a:pt x="645195" y="251105"/>
                        <a:pt x="615578" y="521951"/>
                        <a:pt x="565642" y="749813"/>
                      </a:cubicBezTo>
                      <a:lnTo>
                        <a:pt x="726841" y="904479"/>
                      </a:lnTo>
                      <a:lnTo>
                        <a:pt x="700460" y="1113326"/>
                      </a:lnTo>
                      <a:lnTo>
                        <a:pt x="510728" y="982128"/>
                      </a:lnTo>
                      <a:lnTo>
                        <a:pt x="503274" y="1014651"/>
                      </a:lnTo>
                      <a:lnTo>
                        <a:pt x="228241" y="1014651"/>
                      </a:lnTo>
                      <a:cubicBezTo>
                        <a:pt x="226194" y="1005458"/>
                        <a:pt x="223902" y="996068"/>
                        <a:pt x="221524" y="986461"/>
                      </a:cubicBezTo>
                      <a:lnTo>
                        <a:pt x="26381" y="1121399"/>
                      </a:lnTo>
                      <a:lnTo>
                        <a:pt x="0" y="912552"/>
                      </a:lnTo>
                      <a:lnTo>
                        <a:pt x="162681" y="756465"/>
                      </a:lnTo>
                      <a:lnTo>
                        <a:pt x="163137" y="757906"/>
                      </a:lnTo>
                      <a:lnTo>
                        <a:pt x="165881" y="748957"/>
                      </a:lnTo>
                      <a:cubicBezTo>
                        <a:pt x="117348" y="521774"/>
                        <a:pt x="87568" y="246912"/>
                        <a:pt x="19620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2400"/>
                    <a:buFont typeface="Calibri"/>
                    <a:buNone/>
                  </a:pPr>
                  <a:endParaRPr sz="2400" b="0" i="0" u="none" strike="noStrike" cap="none">
                    <a:solidFill>
                      <a:srgbClr val="FFFFFF"/>
                    </a:solidFill>
                    <a:latin typeface="Avenir Book" panose="02000503020000020003" pitchFamily="2" charset="0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9" name="Google Shape;354;p4">
                  <a:extLst>
                    <a:ext uri="{FF2B5EF4-FFF2-40B4-BE49-F238E27FC236}">
                      <a16:creationId xmlns:a16="http://schemas.microsoft.com/office/drawing/2014/main" id="{F82384A6-126C-A913-770D-813F2B279FC4}"/>
                    </a:ext>
                  </a:extLst>
                </p:cNvPr>
                <p:cNvSpPr/>
                <p:nvPr/>
              </p:nvSpPr>
              <p:spPr>
                <a:xfrm>
                  <a:off x="6997804" y="1654812"/>
                  <a:ext cx="298274" cy="244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8274" h="244742" extrusionOk="0">
                      <a:moveTo>
                        <a:pt x="147328" y="0"/>
                      </a:moveTo>
                      <a:cubicBezTo>
                        <a:pt x="212319" y="65590"/>
                        <a:pt x="261867" y="134854"/>
                        <a:pt x="298274" y="206570"/>
                      </a:cubicBezTo>
                      <a:cubicBezTo>
                        <a:pt x="205418" y="258299"/>
                        <a:pt x="92251" y="257374"/>
                        <a:pt x="0" y="204273"/>
                      </a:cubicBezTo>
                      <a:cubicBezTo>
                        <a:pt x="35363" y="132633"/>
                        <a:pt x="83678" y="64016"/>
                        <a:pt x="14732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2400"/>
                    <a:buFont typeface="Calibri"/>
                    <a:buNone/>
                  </a:pPr>
                  <a:endParaRPr sz="2400" b="0" i="0" u="none" strike="noStrike" cap="none">
                    <a:solidFill>
                      <a:srgbClr val="FFFFFF"/>
                    </a:solidFill>
                    <a:latin typeface="Avenir Book" panose="02000503020000020003" pitchFamily="2" charset="0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7" name="Google Shape;355;p4">
                <a:extLst>
                  <a:ext uri="{FF2B5EF4-FFF2-40B4-BE49-F238E27FC236}">
                    <a16:creationId xmlns:a16="http://schemas.microsoft.com/office/drawing/2014/main" id="{0AD351A0-8043-6732-A583-F6DEF9E11739}"/>
                  </a:ext>
                </a:extLst>
              </p:cNvPr>
              <p:cNvSpPr/>
              <p:nvPr/>
            </p:nvSpPr>
            <p:spPr>
              <a:xfrm>
                <a:off x="6777274" y="2572267"/>
                <a:ext cx="552841" cy="436431"/>
              </a:xfrm>
              <a:custGeom>
                <a:avLst/>
                <a:gdLst/>
                <a:ahLst/>
                <a:cxnLst/>
                <a:rect l="l" t="t" r="r" b="b"/>
                <a:pathLst>
                  <a:path w="935319" h="738371" extrusionOk="0">
                    <a:moveTo>
                      <a:pt x="570246" y="5904"/>
                    </a:moveTo>
                    <a:cubicBezTo>
                      <a:pt x="462283" y="64891"/>
                      <a:pt x="426421" y="317189"/>
                      <a:pt x="649701" y="474399"/>
                    </a:cubicBezTo>
                    <a:cubicBezTo>
                      <a:pt x="593836" y="327977"/>
                      <a:pt x="630970" y="255746"/>
                      <a:pt x="667057" y="182470"/>
                    </a:cubicBezTo>
                    <a:cubicBezTo>
                      <a:pt x="667659" y="219721"/>
                      <a:pt x="629598" y="299814"/>
                      <a:pt x="723199" y="346469"/>
                    </a:cubicBezTo>
                    <a:cubicBezTo>
                      <a:pt x="679394" y="206128"/>
                      <a:pt x="864427" y="161920"/>
                      <a:pt x="670152" y="6949"/>
                    </a:cubicBezTo>
                    <a:cubicBezTo>
                      <a:pt x="951156" y="47548"/>
                      <a:pt x="868526" y="190548"/>
                      <a:pt x="935319" y="334595"/>
                    </a:cubicBezTo>
                    <a:cubicBezTo>
                      <a:pt x="886447" y="343095"/>
                      <a:pt x="815632" y="212619"/>
                      <a:pt x="831546" y="274410"/>
                    </a:cubicBezTo>
                    <a:cubicBezTo>
                      <a:pt x="915063" y="518579"/>
                      <a:pt x="665249" y="525551"/>
                      <a:pt x="744586" y="738371"/>
                    </a:cubicBezTo>
                    <a:cubicBezTo>
                      <a:pt x="498005" y="724435"/>
                      <a:pt x="570128" y="495242"/>
                      <a:pt x="454164" y="439509"/>
                    </a:cubicBezTo>
                    <a:cubicBezTo>
                      <a:pt x="422689" y="433882"/>
                      <a:pt x="384944" y="459601"/>
                      <a:pt x="454829" y="574141"/>
                    </a:cubicBezTo>
                    <a:cubicBezTo>
                      <a:pt x="47812" y="270832"/>
                      <a:pt x="333584" y="22904"/>
                      <a:pt x="570246" y="5904"/>
                    </a:cubicBezTo>
                    <a:close/>
                    <a:moveTo>
                      <a:pt x="0" y="0"/>
                    </a:moveTo>
                    <a:lnTo>
                      <a:pt x="9284" y="0"/>
                    </a:lnTo>
                    <a:lnTo>
                      <a:pt x="746" y="590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400"/>
                  <a:buFont typeface="Calibri"/>
                  <a:buNone/>
                </a:pPr>
                <a:endParaRPr sz="2400" b="0" i="0" u="none" strike="noStrike" cap="none">
                  <a:solidFill>
                    <a:srgbClr val="FFFFFF"/>
                  </a:solidFill>
                  <a:latin typeface="Avenir Book" panose="02000503020000020003" pitchFamily="2" charset="0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70" name="Google Shape;356;p4">
            <a:extLst>
              <a:ext uri="{FF2B5EF4-FFF2-40B4-BE49-F238E27FC236}">
                <a16:creationId xmlns:a16="http://schemas.microsoft.com/office/drawing/2014/main" id="{28AD901B-1E65-0241-707D-1C3859F0DB07}"/>
              </a:ext>
            </a:extLst>
          </p:cNvPr>
          <p:cNvCxnSpPr>
            <a:cxnSpLocks/>
            <a:stCxn id="64" idx="1"/>
            <a:endCxn id="59" idx="3"/>
          </p:cNvCxnSpPr>
          <p:nvPr/>
        </p:nvCxnSpPr>
        <p:spPr>
          <a:xfrm flipV="1">
            <a:off x="6252639" y="1365728"/>
            <a:ext cx="616060" cy="1204743"/>
          </a:xfrm>
          <a:prstGeom prst="straightConnector1">
            <a:avLst/>
          </a:prstGeom>
          <a:noFill/>
          <a:ln w="9525" cap="flat" cmpd="sng">
            <a:solidFill>
              <a:srgbClr val="00206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1" name="Google Shape;357;p4">
            <a:extLst>
              <a:ext uri="{FF2B5EF4-FFF2-40B4-BE49-F238E27FC236}">
                <a16:creationId xmlns:a16="http://schemas.microsoft.com/office/drawing/2014/main" id="{D3DAA27F-72B6-87D9-6EF7-A6F0F82F78BA}"/>
              </a:ext>
            </a:extLst>
          </p:cNvPr>
          <p:cNvCxnSpPr>
            <a:cxnSpLocks/>
            <a:endCxn id="45" idx="3"/>
          </p:cNvCxnSpPr>
          <p:nvPr/>
        </p:nvCxnSpPr>
        <p:spPr>
          <a:xfrm flipV="1">
            <a:off x="6118731" y="2784073"/>
            <a:ext cx="749968" cy="392355"/>
          </a:xfrm>
          <a:prstGeom prst="straightConnector1">
            <a:avLst/>
          </a:prstGeom>
          <a:noFill/>
          <a:ln w="9525" cap="flat" cmpd="sng">
            <a:solidFill>
              <a:srgbClr val="00206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2" name="Google Shape;358;p4">
            <a:extLst>
              <a:ext uri="{FF2B5EF4-FFF2-40B4-BE49-F238E27FC236}">
                <a16:creationId xmlns:a16="http://schemas.microsoft.com/office/drawing/2014/main" id="{19B0E75F-7331-9DE8-4253-7C937606788F}"/>
              </a:ext>
            </a:extLst>
          </p:cNvPr>
          <p:cNvCxnSpPr>
            <a:cxnSpLocks/>
            <a:stCxn id="64" idx="2"/>
          </p:cNvCxnSpPr>
          <p:nvPr/>
        </p:nvCxnSpPr>
        <p:spPr>
          <a:xfrm>
            <a:off x="6637164" y="3412146"/>
            <a:ext cx="314454" cy="532746"/>
          </a:xfrm>
          <a:prstGeom prst="straightConnector1">
            <a:avLst/>
          </a:prstGeom>
          <a:noFill/>
          <a:ln w="9525" cap="flat" cmpd="sng">
            <a:solidFill>
              <a:srgbClr val="00206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3" name="Google Shape;359;p4">
            <a:extLst>
              <a:ext uri="{FF2B5EF4-FFF2-40B4-BE49-F238E27FC236}">
                <a16:creationId xmlns:a16="http://schemas.microsoft.com/office/drawing/2014/main" id="{BD03BD6F-FE55-6407-8764-20A5F1017962}"/>
              </a:ext>
            </a:extLst>
          </p:cNvPr>
          <p:cNvCxnSpPr>
            <a:cxnSpLocks/>
            <a:stCxn id="64" idx="3"/>
            <a:endCxn id="51" idx="3"/>
          </p:cNvCxnSpPr>
          <p:nvPr/>
        </p:nvCxnSpPr>
        <p:spPr>
          <a:xfrm>
            <a:off x="6252639" y="4253821"/>
            <a:ext cx="616060" cy="1137554"/>
          </a:xfrm>
          <a:prstGeom prst="straightConnector1">
            <a:avLst/>
          </a:prstGeom>
          <a:noFill/>
          <a:ln w="9525" cap="flat" cmpd="sng">
            <a:solidFill>
              <a:srgbClr val="00206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4" name="Google Shape;360;p4">
            <a:extLst>
              <a:ext uri="{FF2B5EF4-FFF2-40B4-BE49-F238E27FC236}">
                <a16:creationId xmlns:a16="http://schemas.microsoft.com/office/drawing/2014/main" id="{DBF8BDF1-2AA4-ABDD-5D36-9D61C57B065B}"/>
              </a:ext>
            </a:extLst>
          </p:cNvPr>
          <p:cNvSpPr txBox="1"/>
          <p:nvPr/>
        </p:nvSpPr>
        <p:spPr>
          <a:xfrm flipH="1">
            <a:off x="762719" y="2195946"/>
            <a:ext cx="3072341" cy="400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000" dirty="0">
                <a:latin typeface="Avenir Medium" panose="02000503020000020003" pitchFamily="2" charset="0"/>
                <a:ea typeface="Arial"/>
                <a:cs typeface="Arial"/>
                <a:sym typeface="Arial"/>
              </a:rPr>
              <a:t>OBJETIVO GENERAL</a:t>
            </a:r>
            <a:endParaRPr sz="2000" dirty="0">
              <a:latin typeface="Avenir Medium" panose="02000503020000020003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75" name="Google Shape;361;p4">
            <a:extLst>
              <a:ext uri="{FF2B5EF4-FFF2-40B4-BE49-F238E27FC236}">
                <a16:creationId xmlns:a16="http://schemas.microsoft.com/office/drawing/2014/main" id="{DB277114-97B5-BF72-8FEC-F0A645348A1E}"/>
              </a:ext>
            </a:extLst>
          </p:cNvPr>
          <p:cNvSpPr txBox="1"/>
          <p:nvPr/>
        </p:nvSpPr>
        <p:spPr>
          <a:xfrm>
            <a:off x="117987" y="2622358"/>
            <a:ext cx="3905488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rgbClr val="002060"/>
                </a:solidFill>
                <a:latin typeface="Avenir Book" panose="02000503020000020003" pitchFamily="2" charset="0"/>
                <a:ea typeface="Arial"/>
                <a:cs typeface="Arial"/>
                <a:sym typeface="Arial"/>
              </a:rPr>
              <a:t>Desarrollar un modelo de Machine </a:t>
            </a:r>
            <a:r>
              <a:rPr lang="es-ES" sz="1800" dirty="0" err="1">
                <a:solidFill>
                  <a:srgbClr val="002060"/>
                </a:solidFill>
                <a:latin typeface="Avenir Book" panose="02000503020000020003" pitchFamily="2" charset="0"/>
                <a:ea typeface="Arial"/>
                <a:cs typeface="Arial"/>
                <a:sym typeface="Arial"/>
              </a:rPr>
              <a:t>Learning</a:t>
            </a:r>
            <a:r>
              <a:rPr lang="es-ES" sz="1800" dirty="0">
                <a:solidFill>
                  <a:srgbClr val="002060"/>
                </a:solidFill>
                <a:latin typeface="Avenir Book" panose="02000503020000020003" pitchFamily="2" charset="0"/>
                <a:ea typeface="Arial"/>
                <a:cs typeface="Arial"/>
                <a:sym typeface="Arial"/>
              </a:rPr>
              <a:t> que automatice la prospección de créditos recurrentes en función del riesgo crediticio, con el fin de optimizar la identificación de clientes potenciales y apoyar la toma de decisiones financieras en la Cooperativa de Ahorro y Crédito Tulcán.</a:t>
            </a:r>
            <a:endParaRPr lang="es-ES" dirty="0">
              <a:latin typeface="Avenir Book" panose="02000503020000020003" pitchFamily="2" charset="0"/>
            </a:endParaRPr>
          </a:p>
        </p:txBody>
      </p:sp>
      <p:sp>
        <p:nvSpPr>
          <p:cNvPr id="7" name="Google Shape;333;p4">
            <a:extLst>
              <a:ext uri="{FF2B5EF4-FFF2-40B4-BE49-F238E27FC236}">
                <a16:creationId xmlns:a16="http://schemas.microsoft.com/office/drawing/2014/main" id="{1B7BF272-41BA-99CB-2228-8934501CBE2F}"/>
              </a:ext>
            </a:extLst>
          </p:cNvPr>
          <p:cNvSpPr/>
          <p:nvPr/>
        </p:nvSpPr>
        <p:spPr>
          <a:xfrm flipH="1">
            <a:off x="1431880" y="5241946"/>
            <a:ext cx="710088" cy="643807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endParaRPr sz="2400" b="0" i="0" u="none" strike="noStrike" cap="none" dirty="0">
              <a:solidFill>
                <a:srgbClr val="FFFFFF"/>
              </a:solidFill>
              <a:latin typeface="Avenir Book" panose="02000503020000020003" pitchFamily="2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45148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347;p4">
            <a:extLst>
              <a:ext uri="{FF2B5EF4-FFF2-40B4-BE49-F238E27FC236}">
                <a16:creationId xmlns:a16="http://schemas.microsoft.com/office/drawing/2014/main" id="{083C6B8A-BD9A-B1E3-42F5-5FCD80F7C628}"/>
              </a:ext>
            </a:extLst>
          </p:cNvPr>
          <p:cNvSpPr/>
          <p:nvPr/>
        </p:nvSpPr>
        <p:spPr>
          <a:xfrm>
            <a:off x="0" y="1433020"/>
            <a:ext cx="1576552" cy="66507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 Book" panose="02000503020000020003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348;p4">
            <a:extLst>
              <a:ext uri="{FF2B5EF4-FFF2-40B4-BE49-F238E27FC236}">
                <a16:creationId xmlns:a16="http://schemas.microsoft.com/office/drawing/2014/main" id="{63FD124D-D198-8DFC-10FC-825118CAD26C}"/>
              </a:ext>
            </a:extLst>
          </p:cNvPr>
          <p:cNvSpPr txBox="1"/>
          <p:nvPr/>
        </p:nvSpPr>
        <p:spPr>
          <a:xfrm>
            <a:off x="720937" y="529226"/>
            <a:ext cx="5006648" cy="62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lang="es-PE" sz="3600" b="1" dirty="0">
                <a:latin typeface="Avenir Book" panose="02000503020000020003" pitchFamily="2" charset="0"/>
                <a:ea typeface="Arial"/>
                <a:cs typeface="Arial"/>
                <a:sym typeface="Arial"/>
              </a:rPr>
              <a:t>Justificación del TIC</a:t>
            </a:r>
            <a:endParaRPr sz="3600" b="1" dirty="0">
              <a:latin typeface="Avenir Book" panose="02000503020000020003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3" name="Google Shape;440;p7">
            <a:extLst>
              <a:ext uri="{FF2B5EF4-FFF2-40B4-BE49-F238E27FC236}">
                <a16:creationId xmlns:a16="http://schemas.microsoft.com/office/drawing/2014/main" id="{9B2A0A05-18EA-D26E-029F-C103322A33A7}"/>
              </a:ext>
            </a:extLst>
          </p:cNvPr>
          <p:cNvSpPr/>
          <p:nvPr/>
        </p:nvSpPr>
        <p:spPr>
          <a:xfrm>
            <a:off x="2951018" y="2632365"/>
            <a:ext cx="5874327" cy="210133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444;p7">
            <a:extLst>
              <a:ext uri="{FF2B5EF4-FFF2-40B4-BE49-F238E27FC236}">
                <a16:creationId xmlns:a16="http://schemas.microsoft.com/office/drawing/2014/main" id="{9C40391C-2C0C-A337-BAE1-CB9142C65662}"/>
              </a:ext>
            </a:extLst>
          </p:cNvPr>
          <p:cNvSpPr/>
          <p:nvPr/>
        </p:nvSpPr>
        <p:spPr>
          <a:xfrm>
            <a:off x="880306" y="1882298"/>
            <a:ext cx="4570914" cy="1546701"/>
          </a:xfrm>
          <a:prstGeom prst="roundRect">
            <a:avLst>
              <a:gd name="adj" fmla="val 16667"/>
            </a:avLst>
          </a:prstGeom>
          <a:solidFill>
            <a:schemeClr val="accent5">
              <a:lumMod val="20000"/>
              <a:lumOff val="80000"/>
            </a:schemeClr>
          </a:solidFill>
          <a:ln w="762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446;p7">
            <a:extLst>
              <a:ext uri="{FF2B5EF4-FFF2-40B4-BE49-F238E27FC236}">
                <a16:creationId xmlns:a16="http://schemas.microsoft.com/office/drawing/2014/main" id="{2A0CE78B-CB62-3AB7-F3B2-D1F07087857D}"/>
              </a:ext>
            </a:extLst>
          </p:cNvPr>
          <p:cNvSpPr/>
          <p:nvPr/>
        </p:nvSpPr>
        <p:spPr>
          <a:xfrm>
            <a:off x="5339902" y="4121116"/>
            <a:ext cx="4692905" cy="1766265"/>
          </a:xfrm>
          <a:prstGeom prst="roundRect">
            <a:avLst>
              <a:gd name="adj" fmla="val 16667"/>
            </a:avLst>
          </a:prstGeom>
          <a:solidFill>
            <a:schemeClr val="accent4">
              <a:lumMod val="40000"/>
              <a:lumOff val="60000"/>
            </a:schemeClr>
          </a:solidFill>
          <a:ln w="762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447;p7">
            <a:extLst>
              <a:ext uri="{FF2B5EF4-FFF2-40B4-BE49-F238E27FC236}">
                <a16:creationId xmlns:a16="http://schemas.microsoft.com/office/drawing/2014/main" id="{A83F9D3C-BE7C-CEB3-C0B9-AAF57F6A9164}"/>
              </a:ext>
            </a:extLst>
          </p:cNvPr>
          <p:cNvSpPr txBox="1"/>
          <p:nvPr/>
        </p:nvSpPr>
        <p:spPr>
          <a:xfrm>
            <a:off x="1042050" y="1973936"/>
            <a:ext cx="4149076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tx2"/>
                </a:solidFill>
                <a:latin typeface="Avenir Book" panose="02000503020000020003" pitchFamily="2" charset="0"/>
                <a:ea typeface="Arial"/>
                <a:cs typeface="Arial"/>
                <a:sym typeface="Arial"/>
              </a:rPr>
              <a:t>Modernización y agilidad: se integra un modelo predictivo con Machine </a:t>
            </a:r>
            <a:r>
              <a:rPr lang="es-ES" sz="1600" dirty="0" err="1">
                <a:solidFill>
                  <a:schemeClr val="tx2"/>
                </a:solidFill>
                <a:latin typeface="Avenir Book" panose="02000503020000020003" pitchFamily="2" charset="0"/>
                <a:ea typeface="Arial"/>
                <a:cs typeface="Arial"/>
                <a:sym typeface="Arial"/>
              </a:rPr>
              <a:t>Learning</a:t>
            </a:r>
            <a:r>
              <a:rPr lang="es-ES" sz="1600" dirty="0">
                <a:solidFill>
                  <a:schemeClr val="tx2"/>
                </a:solidFill>
                <a:latin typeface="Avenir Book" panose="02000503020000020003" pitchFamily="2" charset="0"/>
                <a:ea typeface="Arial"/>
                <a:cs typeface="Arial"/>
                <a:sym typeface="Arial"/>
              </a:rPr>
              <a:t> para apoyar la evaluación de créditos recurrentes, reduciendo el análisis manual y acelerando la toma de decisiones.</a:t>
            </a:r>
          </a:p>
        </p:txBody>
      </p:sp>
      <p:sp>
        <p:nvSpPr>
          <p:cNvPr id="2" name="Google Shape;446;p7">
            <a:extLst>
              <a:ext uri="{FF2B5EF4-FFF2-40B4-BE49-F238E27FC236}">
                <a16:creationId xmlns:a16="http://schemas.microsoft.com/office/drawing/2014/main" id="{9A1BE644-D73A-77E4-570D-859C4A59B935}"/>
              </a:ext>
            </a:extLst>
          </p:cNvPr>
          <p:cNvSpPr/>
          <p:nvPr/>
        </p:nvSpPr>
        <p:spPr>
          <a:xfrm>
            <a:off x="6894529" y="1200151"/>
            <a:ext cx="4692905" cy="1766265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</a:schemeClr>
          </a:solidFill>
          <a:ln w="762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448;p7">
            <a:extLst>
              <a:ext uri="{FF2B5EF4-FFF2-40B4-BE49-F238E27FC236}">
                <a16:creationId xmlns:a16="http://schemas.microsoft.com/office/drawing/2014/main" id="{9AA4213F-616E-BA95-F578-4259461852EA}"/>
              </a:ext>
            </a:extLst>
          </p:cNvPr>
          <p:cNvSpPr txBox="1"/>
          <p:nvPr/>
        </p:nvSpPr>
        <p:spPr>
          <a:xfrm>
            <a:off x="7100094" y="1296423"/>
            <a:ext cx="4338650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rgbClr val="002060"/>
                </a:solidFill>
                <a:latin typeface="Avenir Book" panose="02000503020000020003" pitchFamily="2" charset="0"/>
                <a:ea typeface="Arial"/>
                <a:cs typeface="Arial"/>
                <a:sym typeface="Arial"/>
              </a:rPr>
              <a:t>Menor riesgo y mejor gestión: permite identificar con mayor oportunidad perfiles con alta probabilidad de cumplimiento, optimizando tiempos operativos y reduciendo exposición a mora, con impacto positivo en la experiencia del socio/cliente.</a:t>
            </a:r>
          </a:p>
        </p:txBody>
      </p:sp>
      <p:sp>
        <p:nvSpPr>
          <p:cNvPr id="5" name="Google Shape;448;p7">
            <a:extLst>
              <a:ext uri="{FF2B5EF4-FFF2-40B4-BE49-F238E27FC236}">
                <a16:creationId xmlns:a16="http://schemas.microsoft.com/office/drawing/2014/main" id="{2F01E948-9235-7321-6FC3-9BFF72DA3B7F}"/>
              </a:ext>
            </a:extLst>
          </p:cNvPr>
          <p:cNvSpPr txBox="1"/>
          <p:nvPr/>
        </p:nvSpPr>
        <p:spPr>
          <a:xfrm>
            <a:off x="5616267" y="4298257"/>
            <a:ext cx="4338650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rgbClr val="002060"/>
                </a:solidFill>
                <a:latin typeface="Avenir Book" panose="02000503020000020003" pitchFamily="2" charset="0"/>
                <a:ea typeface="Arial"/>
                <a:cs typeface="Arial"/>
                <a:sym typeface="Arial"/>
              </a:rPr>
              <a:t>Aporte académico–práctico: vincula fundamentos de riesgo crediticio con técnicas de clasificación supervisada, demostrando la aplicabilidad de la analítica predictiva como herramienta de gestión financiera en una cooperativa.</a:t>
            </a:r>
          </a:p>
        </p:txBody>
      </p:sp>
    </p:spTree>
    <p:extLst>
      <p:ext uri="{BB962C8B-B14F-4D97-AF65-F5344CB8AC3E}">
        <p14:creationId xmlns:p14="http://schemas.microsoft.com/office/powerpoint/2010/main" val="2560058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47;p4">
            <a:extLst>
              <a:ext uri="{FF2B5EF4-FFF2-40B4-BE49-F238E27FC236}">
                <a16:creationId xmlns:a16="http://schemas.microsoft.com/office/drawing/2014/main" id="{DC74E7F6-69D5-F85E-1502-BAE848B317C6}"/>
              </a:ext>
            </a:extLst>
          </p:cNvPr>
          <p:cNvSpPr/>
          <p:nvPr/>
        </p:nvSpPr>
        <p:spPr>
          <a:xfrm>
            <a:off x="0" y="1433020"/>
            <a:ext cx="1576552" cy="66507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 Book" panose="02000503020000020003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48;p4">
            <a:extLst>
              <a:ext uri="{FF2B5EF4-FFF2-40B4-BE49-F238E27FC236}">
                <a16:creationId xmlns:a16="http://schemas.microsoft.com/office/drawing/2014/main" id="{C0BD846F-8BAF-C3F3-85F2-549180B956CA}"/>
              </a:ext>
            </a:extLst>
          </p:cNvPr>
          <p:cNvSpPr txBox="1"/>
          <p:nvPr/>
        </p:nvSpPr>
        <p:spPr>
          <a:xfrm>
            <a:off x="442451" y="670033"/>
            <a:ext cx="4385187" cy="62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lang="es-PE" sz="3600" b="1" dirty="0">
                <a:latin typeface="Avenir Book" panose="02000503020000020003" pitchFamily="2" charset="0"/>
                <a:ea typeface="Arial"/>
                <a:cs typeface="Arial"/>
                <a:sym typeface="Arial"/>
              </a:rPr>
              <a:t>Componentes del TIC</a:t>
            </a:r>
            <a:endParaRPr sz="3600" b="1" dirty="0">
              <a:latin typeface="Avenir Book" panose="02000503020000020003" pitchFamily="2" charset="0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0806BA8-6143-95C1-39FC-83DA9F6C0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412" y="1738974"/>
            <a:ext cx="10397176" cy="4178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359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8">
            <a:extLst>
              <a:ext uri="{FF2B5EF4-FFF2-40B4-BE49-F238E27FC236}">
                <a16:creationId xmlns:a16="http://schemas.microsoft.com/office/drawing/2014/main" id="{75AF3731-0A19-9AC0-DEC0-86EFD36699F0}"/>
              </a:ext>
            </a:extLst>
          </p:cNvPr>
          <p:cNvSpPr/>
          <p:nvPr/>
        </p:nvSpPr>
        <p:spPr>
          <a:xfrm>
            <a:off x="1100958" y="1676454"/>
            <a:ext cx="951407" cy="4328938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CO" sz="1800" b="0" dirty="0">
                <a:solidFill>
                  <a:schemeClr val="bg1"/>
                </a:solidFill>
                <a:latin typeface="Avenir Book" panose="02000503020000020003" pitchFamily="2" charset="0"/>
                <a:cs typeface="Arial" panose="020B0604020202020204" pitchFamily="34" charset="0"/>
              </a:rPr>
              <a:t>Teorías que sustentan el estudio</a:t>
            </a:r>
          </a:p>
        </p:txBody>
      </p:sp>
      <p:sp>
        <p:nvSpPr>
          <p:cNvPr id="5" name="Rectángulo: esquinas redondeadas 9">
            <a:extLst>
              <a:ext uri="{FF2B5EF4-FFF2-40B4-BE49-F238E27FC236}">
                <a16:creationId xmlns:a16="http://schemas.microsoft.com/office/drawing/2014/main" id="{4DEAB583-883B-58FF-37F9-67A071A53F5E}"/>
              </a:ext>
            </a:extLst>
          </p:cNvPr>
          <p:cNvSpPr/>
          <p:nvPr/>
        </p:nvSpPr>
        <p:spPr>
          <a:xfrm>
            <a:off x="2479949" y="1499527"/>
            <a:ext cx="2647393" cy="791149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bg1"/>
                </a:solidFill>
                <a:latin typeface="Avenir Book" panose="02000503020000020003" pitchFamily="2" charset="0"/>
              </a:rPr>
              <a:t>Teoría Cliente</a:t>
            </a:r>
          </a:p>
        </p:txBody>
      </p:sp>
      <p:sp>
        <p:nvSpPr>
          <p:cNvPr id="6" name="Rectángulo: esquinas redondeadas 11">
            <a:extLst>
              <a:ext uri="{FF2B5EF4-FFF2-40B4-BE49-F238E27FC236}">
                <a16:creationId xmlns:a16="http://schemas.microsoft.com/office/drawing/2014/main" id="{34A534FD-0516-FAB6-7437-475B3CF01578}"/>
              </a:ext>
            </a:extLst>
          </p:cNvPr>
          <p:cNvSpPr/>
          <p:nvPr/>
        </p:nvSpPr>
        <p:spPr>
          <a:xfrm>
            <a:off x="2473703" y="2737766"/>
            <a:ext cx="2647393" cy="79114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bg1"/>
                </a:solidFill>
                <a:latin typeface="Avenir Book" panose="02000503020000020003" pitchFamily="2" charset="0"/>
              </a:rPr>
              <a:t>Teoría Aplicativo web</a:t>
            </a:r>
          </a:p>
        </p:txBody>
      </p:sp>
      <p:sp>
        <p:nvSpPr>
          <p:cNvPr id="7" name="Rectángulo: esquinas redondeadas 12">
            <a:extLst>
              <a:ext uri="{FF2B5EF4-FFF2-40B4-BE49-F238E27FC236}">
                <a16:creationId xmlns:a16="http://schemas.microsoft.com/office/drawing/2014/main" id="{EB91D623-206C-7194-AACB-331638181CD1}"/>
              </a:ext>
            </a:extLst>
          </p:cNvPr>
          <p:cNvSpPr/>
          <p:nvPr/>
        </p:nvSpPr>
        <p:spPr>
          <a:xfrm>
            <a:off x="2473703" y="3976005"/>
            <a:ext cx="2647393" cy="791149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bg1"/>
                </a:solidFill>
                <a:latin typeface="Avenir Book" panose="02000503020000020003" pitchFamily="2" charset="0"/>
              </a:rPr>
              <a:t>Teoría Metodologías Agiles</a:t>
            </a:r>
          </a:p>
        </p:txBody>
      </p:sp>
      <p:sp>
        <p:nvSpPr>
          <p:cNvPr id="8" name="Rectángulo: esquinas redondeadas 13">
            <a:extLst>
              <a:ext uri="{FF2B5EF4-FFF2-40B4-BE49-F238E27FC236}">
                <a16:creationId xmlns:a16="http://schemas.microsoft.com/office/drawing/2014/main" id="{41268A1F-B0E3-C718-9CEA-FD532818627B}"/>
              </a:ext>
            </a:extLst>
          </p:cNvPr>
          <p:cNvSpPr/>
          <p:nvPr/>
        </p:nvSpPr>
        <p:spPr>
          <a:xfrm>
            <a:off x="2473703" y="5214243"/>
            <a:ext cx="2647393" cy="79114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Avenir Book" panose="02000503020000020003"/>
              </a:rPr>
              <a:t>Teorías</a:t>
            </a:r>
            <a:r>
              <a:rPr lang="en-US" dirty="0">
                <a:latin typeface="Avenir Book" panose="02000503020000020003"/>
              </a:rPr>
              <a:t> de Machine Learning </a:t>
            </a:r>
          </a:p>
          <a:p>
            <a:pPr algn="ctr"/>
            <a:r>
              <a:rPr lang="en-US" dirty="0">
                <a:latin typeface="Avenir Book" panose="02000503020000020003"/>
              </a:rPr>
              <a:t>(Scoring </a:t>
            </a:r>
            <a:r>
              <a:rPr lang="en-US" dirty="0" err="1">
                <a:latin typeface="Avenir Book" panose="02000503020000020003"/>
              </a:rPr>
              <a:t>predictivo</a:t>
            </a:r>
            <a:r>
              <a:rPr lang="en-US" dirty="0">
                <a:latin typeface="Avenir Book" panose="02000503020000020003"/>
              </a:rPr>
              <a:t>)</a:t>
            </a:r>
            <a:endParaRPr lang="es-PE" dirty="0">
              <a:solidFill>
                <a:schemeClr val="bg1"/>
              </a:solidFill>
              <a:latin typeface="Avenir Book" panose="02000503020000020003"/>
            </a:endParaRPr>
          </a:p>
        </p:txBody>
      </p:sp>
      <p:sp>
        <p:nvSpPr>
          <p:cNvPr id="9" name="Rectángulo: esquinas redondeadas 14">
            <a:extLst>
              <a:ext uri="{FF2B5EF4-FFF2-40B4-BE49-F238E27FC236}">
                <a16:creationId xmlns:a16="http://schemas.microsoft.com/office/drawing/2014/main" id="{8DF1188C-D99C-C8E8-6538-5513B60C1D80}"/>
              </a:ext>
            </a:extLst>
          </p:cNvPr>
          <p:cNvSpPr/>
          <p:nvPr/>
        </p:nvSpPr>
        <p:spPr>
          <a:xfrm>
            <a:off x="6685804" y="1246454"/>
            <a:ext cx="4405239" cy="1297295"/>
          </a:xfrm>
          <a:prstGeom prst="roundRect">
            <a:avLst/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  <a:latin typeface="Avenir Book" panose="02000503020000020003" pitchFamily="2" charset="0"/>
                <a:cs typeface="Arial" panose="020B0604020202020204" pitchFamily="34" charset="0"/>
              </a:rPr>
              <a:t>El cliente recurrente se analiza desde el enfoque de riesgo crediticio y comportamiento de pago (mora/historial), como base para perfilar probabilidad de incumplimiento y orientar la prospección. Los créditos recurrentes generan historial acumulado de comportamiento de pago, lo que enriquece la capacidad predictiva del modelo pero también implica riesgos de exposición incremental.</a:t>
            </a:r>
            <a:endParaRPr lang="es-ES" sz="1400" dirty="0">
              <a:solidFill>
                <a:schemeClr val="tx1"/>
              </a:solidFill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p:sp>
        <p:nvSpPr>
          <p:cNvPr id="10" name="Rectángulo: esquinas redondeadas 15">
            <a:extLst>
              <a:ext uri="{FF2B5EF4-FFF2-40B4-BE49-F238E27FC236}">
                <a16:creationId xmlns:a16="http://schemas.microsoft.com/office/drawing/2014/main" id="{619A71E9-4780-FC10-9F1E-101234B18A0D}"/>
              </a:ext>
            </a:extLst>
          </p:cNvPr>
          <p:cNvSpPr/>
          <p:nvPr/>
        </p:nvSpPr>
        <p:spPr>
          <a:xfrm>
            <a:off x="6685804" y="2666231"/>
            <a:ext cx="4405238" cy="934220"/>
          </a:xfrm>
          <a:prstGeom prst="roundRect">
            <a:avLst/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  <a:latin typeface="Avenir Book" panose="02000503020000020003" pitchFamily="2" charset="0"/>
                <a:cs typeface="Arial" panose="020B0604020202020204" pitchFamily="34" charset="0"/>
              </a:rPr>
              <a:t>El aplicativo web funciona como capa operativa para capturar/validar datos, ejecutar el </a:t>
            </a:r>
            <a:r>
              <a:rPr lang="es-ES" sz="1200" dirty="0" err="1">
                <a:solidFill>
                  <a:schemeClr val="tx1"/>
                </a:solidFill>
                <a:latin typeface="Avenir Book" panose="02000503020000020003" pitchFamily="2" charset="0"/>
                <a:cs typeface="Arial" panose="020B0604020202020204" pitchFamily="34" charset="0"/>
              </a:rPr>
              <a:t>scoring</a:t>
            </a:r>
            <a:r>
              <a:rPr lang="es-ES" sz="1200" dirty="0">
                <a:solidFill>
                  <a:schemeClr val="tx1"/>
                </a:solidFill>
                <a:latin typeface="Avenir Book" panose="02000503020000020003" pitchFamily="2" charset="0"/>
                <a:cs typeface="Arial" panose="020B0604020202020204" pitchFamily="34" charset="0"/>
              </a:rPr>
              <a:t> y presentar resultados, garantizando trazabilidad, consistencia del proceso y soporte a la decisión.</a:t>
            </a:r>
            <a:endParaRPr lang="es-ES" sz="1400" dirty="0">
              <a:solidFill>
                <a:schemeClr val="tx1"/>
              </a:solidFill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p:sp>
        <p:nvSpPr>
          <p:cNvPr id="11" name="Rectángulo: esquinas redondeadas 16">
            <a:extLst>
              <a:ext uri="{FF2B5EF4-FFF2-40B4-BE49-F238E27FC236}">
                <a16:creationId xmlns:a16="http://schemas.microsoft.com/office/drawing/2014/main" id="{AFEC07E9-9278-481D-064C-B78BFF09F2F2}"/>
              </a:ext>
            </a:extLst>
          </p:cNvPr>
          <p:cNvSpPr/>
          <p:nvPr/>
        </p:nvSpPr>
        <p:spPr>
          <a:xfrm>
            <a:off x="6685804" y="3761584"/>
            <a:ext cx="4405238" cy="1219992"/>
          </a:xfrm>
          <a:prstGeom prst="roundRect">
            <a:avLst/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tx1"/>
                </a:solidFill>
                <a:latin typeface="Avenir Book" panose="02000503020000020003" pitchFamily="2" charset="0"/>
                <a:cs typeface="Arial" panose="020B0604020202020204" pitchFamily="34" charset="0"/>
              </a:rPr>
              <a:t>El desarrollo incremental (iteraciones) permite validar el flujo de datos, reglas y salidas del modelo con retroalimentación temprana, reduciendo riesgos de implementación y mejorando alineación con necesidades institucionales.</a:t>
            </a:r>
          </a:p>
        </p:txBody>
      </p:sp>
      <p:sp>
        <p:nvSpPr>
          <p:cNvPr id="12" name="Rectángulo: esquinas redondeadas 17">
            <a:extLst>
              <a:ext uri="{FF2B5EF4-FFF2-40B4-BE49-F238E27FC236}">
                <a16:creationId xmlns:a16="http://schemas.microsoft.com/office/drawing/2014/main" id="{1F80B1B3-CE11-969B-6A80-A09C392081F3}"/>
              </a:ext>
            </a:extLst>
          </p:cNvPr>
          <p:cNvSpPr/>
          <p:nvPr/>
        </p:nvSpPr>
        <p:spPr>
          <a:xfrm>
            <a:off x="6685804" y="5047434"/>
            <a:ext cx="4405238" cy="1219971"/>
          </a:xfrm>
          <a:prstGeom prst="roundRect">
            <a:avLst/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  <a:latin typeface="Avenir Book" panose="02000503020000020003" pitchFamily="2" charset="0"/>
                <a:cs typeface="Arial" panose="020B0604020202020204" pitchFamily="34" charset="0"/>
              </a:rPr>
              <a:t>Se sustenta en los tres paradigmas del ML (supervisado, no supervisado y por refuerzo); el enfoque central es el supervisado para clasificación de riesgo crediticio (cumple/no cumple), usando variables del perfil crediticio; se complementa con un enfoque híbrido (modelo + reglas/políticas) y criterios de </a:t>
            </a:r>
            <a:r>
              <a:rPr lang="es-ES" sz="1200" dirty="0" err="1">
                <a:solidFill>
                  <a:schemeClr val="tx1"/>
                </a:solidFill>
                <a:latin typeface="Avenir Book" panose="02000503020000020003" pitchFamily="2" charset="0"/>
                <a:cs typeface="Arial" panose="020B0604020202020204" pitchFamily="34" charset="0"/>
              </a:rPr>
              <a:t>explicabilidad</a:t>
            </a:r>
            <a:r>
              <a:rPr lang="es-ES" sz="1200" dirty="0">
                <a:solidFill>
                  <a:schemeClr val="tx1"/>
                </a:solidFill>
                <a:latin typeface="Avenir Book" panose="02000503020000020003" pitchFamily="2" charset="0"/>
                <a:cs typeface="Arial" panose="020B0604020202020204" pitchFamily="34" charset="0"/>
              </a:rPr>
              <a:t>/gobernanza para uso institucional.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473A2A8E-6DE1-2A94-FA36-B84144426B8E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>
            <a:off x="5127342" y="1895102"/>
            <a:ext cx="1558462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BE003DE-7617-D9CA-7E9F-E8F089723920}"/>
              </a:ext>
            </a:extLst>
          </p:cNvPr>
          <p:cNvCxnSpPr>
            <a:cxnSpLocks/>
          </p:cNvCxnSpPr>
          <p:nvPr/>
        </p:nvCxnSpPr>
        <p:spPr>
          <a:xfrm>
            <a:off x="5110552" y="3191788"/>
            <a:ext cx="1536250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6DA2E01D-BAB7-07E6-A157-8FC3E335B25E}"/>
              </a:ext>
            </a:extLst>
          </p:cNvPr>
          <p:cNvCxnSpPr>
            <a:cxnSpLocks/>
          </p:cNvCxnSpPr>
          <p:nvPr/>
        </p:nvCxnSpPr>
        <p:spPr>
          <a:xfrm>
            <a:off x="5103813" y="4416172"/>
            <a:ext cx="1536250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C3B6EDA6-B3E5-0025-90EA-99403A06C19C}"/>
              </a:ext>
            </a:extLst>
          </p:cNvPr>
          <p:cNvCxnSpPr>
            <a:cxnSpLocks/>
          </p:cNvCxnSpPr>
          <p:nvPr/>
        </p:nvCxnSpPr>
        <p:spPr>
          <a:xfrm>
            <a:off x="5134700" y="5668265"/>
            <a:ext cx="1536250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Google Shape;347;p4">
            <a:extLst>
              <a:ext uri="{FF2B5EF4-FFF2-40B4-BE49-F238E27FC236}">
                <a16:creationId xmlns:a16="http://schemas.microsoft.com/office/drawing/2014/main" id="{E68744BA-3FA5-9B8B-5CE0-9CB564516161}"/>
              </a:ext>
            </a:extLst>
          </p:cNvPr>
          <p:cNvSpPr/>
          <p:nvPr/>
        </p:nvSpPr>
        <p:spPr>
          <a:xfrm>
            <a:off x="0" y="1433020"/>
            <a:ext cx="1576552" cy="66507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 Book" panose="02000503020000020003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348;p4">
            <a:extLst>
              <a:ext uri="{FF2B5EF4-FFF2-40B4-BE49-F238E27FC236}">
                <a16:creationId xmlns:a16="http://schemas.microsoft.com/office/drawing/2014/main" id="{C999E749-4E1F-7A84-4AD8-866831F6BEFB}"/>
              </a:ext>
            </a:extLst>
          </p:cNvPr>
          <p:cNvSpPr txBox="1"/>
          <p:nvPr/>
        </p:nvSpPr>
        <p:spPr>
          <a:xfrm>
            <a:off x="720937" y="529226"/>
            <a:ext cx="5006648" cy="62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lang="es-PE" sz="3600" b="1" dirty="0">
                <a:latin typeface="Avenir Book" panose="02000503020000020003" pitchFamily="2" charset="0"/>
                <a:ea typeface="Arial"/>
                <a:cs typeface="Arial"/>
                <a:sym typeface="Arial"/>
              </a:rPr>
              <a:t>Marco Teórico</a:t>
            </a:r>
            <a:endParaRPr sz="3600" b="1" dirty="0">
              <a:latin typeface="Avenir Book" panose="02000503020000020003" pitchFamily="2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7353736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8">
            <a:extLst>
              <a:ext uri="{FF2B5EF4-FFF2-40B4-BE49-F238E27FC236}">
                <a16:creationId xmlns:a16="http://schemas.microsoft.com/office/drawing/2014/main" id="{75AF3731-0A19-9AC0-DEC0-86EFD36699F0}"/>
              </a:ext>
            </a:extLst>
          </p:cNvPr>
          <p:cNvSpPr/>
          <p:nvPr/>
        </p:nvSpPr>
        <p:spPr>
          <a:xfrm>
            <a:off x="1100958" y="1676454"/>
            <a:ext cx="951407" cy="4328938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CO" sz="1800" b="0" dirty="0">
                <a:solidFill>
                  <a:schemeClr val="bg1"/>
                </a:solidFill>
                <a:latin typeface="Avenir Book" panose="02000503020000020003" pitchFamily="2" charset="0"/>
                <a:cs typeface="Arial" panose="020B0604020202020204" pitchFamily="34" charset="0"/>
              </a:rPr>
              <a:t>Análisis de Trabajos relacionados</a:t>
            </a:r>
          </a:p>
        </p:txBody>
      </p:sp>
      <p:sp>
        <p:nvSpPr>
          <p:cNvPr id="5" name="Rectángulo: esquinas redondeadas 9">
            <a:extLst>
              <a:ext uri="{FF2B5EF4-FFF2-40B4-BE49-F238E27FC236}">
                <a16:creationId xmlns:a16="http://schemas.microsoft.com/office/drawing/2014/main" id="{4DEAB583-883B-58FF-37F9-67A071A53F5E}"/>
              </a:ext>
            </a:extLst>
          </p:cNvPr>
          <p:cNvSpPr/>
          <p:nvPr/>
        </p:nvSpPr>
        <p:spPr>
          <a:xfrm>
            <a:off x="2479949" y="1499527"/>
            <a:ext cx="2647393" cy="791149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bg1"/>
                </a:solidFill>
                <a:latin typeface="Avenir Book" panose="02000503020000020003" pitchFamily="2" charset="0"/>
              </a:rPr>
              <a:t>Ensambles vs modelos paramétricos (riesgo crediticio)</a:t>
            </a:r>
          </a:p>
        </p:txBody>
      </p:sp>
      <p:sp>
        <p:nvSpPr>
          <p:cNvPr id="6" name="Rectángulo: esquinas redondeadas 11">
            <a:extLst>
              <a:ext uri="{FF2B5EF4-FFF2-40B4-BE49-F238E27FC236}">
                <a16:creationId xmlns:a16="http://schemas.microsoft.com/office/drawing/2014/main" id="{34A534FD-0516-FAB6-7437-475B3CF01578}"/>
              </a:ext>
            </a:extLst>
          </p:cNvPr>
          <p:cNvSpPr/>
          <p:nvPr/>
        </p:nvSpPr>
        <p:spPr>
          <a:xfrm>
            <a:off x="2473703" y="2532881"/>
            <a:ext cx="2647393" cy="120092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bg1"/>
                </a:solidFill>
                <a:latin typeface="Avenir Book" panose="02000503020000020003" pitchFamily="2" charset="0"/>
              </a:rPr>
              <a:t>Responsabilidad algorítmica (transparencia/explicabilidad)</a:t>
            </a:r>
          </a:p>
        </p:txBody>
      </p:sp>
      <p:sp>
        <p:nvSpPr>
          <p:cNvPr id="7" name="Rectángulo: esquinas redondeadas 12">
            <a:extLst>
              <a:ext uri="{FF2B5EF4-FFF2-40B4-BE49-F238E27FC236}">
                <a16:creationId xmlns:a16="http://schemas.microsoft.com/office/drawing/2014/main" id="{EB91D623-206C-7194-AACB-331638181CD1}"/>
              </a:ext>
            </a:extLst>
          </p:cNvPr>
          <p:cNvSpPr/>
          <p:nvPr/>
        </p:nvSpPr>
        <p:spPr>
          <a:xfrm>
            <a:off x="2473703" y="3976005"/>
            <a:ext cx="2647393" cy="791149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bg1"/>
                </a:solidFill>
                <a:latin typeface="Avenir Book" panose="02000503020000020003" pitchFamily="2" charset="0"/>
              </a:rPr>
              <a:t>Preparación de datos y desbalance</a:t>
            </a:r>
            <a:endParaRPr lang="es-PE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  <p:sp>
        <p:nvSpPr>
          <p:cNvPr id="8" name="Rectángulo: esquinas redondeadas 13">
            <a:extLst>
              <a:ext uri="{FF2B5EF4-FFF2-40B4-BE49-F238E27FC236}">
                <a16:creationId xmlns:a16="http://schemas.microsoft.com/office/drawing/2014/main" id="{41268A1F-B0E3-C718-9CEA-FD532818627B}"/>
              </a:ext>
            </a:extLst>
          </p:cNvPr>
          <p:cNvSpPr/>
          <p:nvPr/>
        </p:nvSpPr>
        <p:spPr>
          <a:xfrm>
            <a:off x="2473703" y="5214243"/>
            <a:ext cx="2647393" cy="79114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dirty="0"/>
              <a:t>Diferenciador de tu propuesta</a:t>
            </a:r>
            <a:endParaRPr lang="es-PE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  <p:sp>
        <p:nvSpPr>
          <p:cNvPr id="9" name="Rectángulo: esquinas redondeadas 14">
            <a:extLst>
              <a:ext uri="{FF2B5EF4-FFF2-40B4-BE49-F238E27FC236}">
                <a16:creationId xmlns:a16="http://schemas.microsoft.com/office/drawing/2014/main" id="{8DF1188C-D99C-C8E8-6538-5513B60C1D80}"/>
              </a:ext>
            </a:extLst>
          </p:cNvPr>
          <p:cNvSpPr/>
          <p:nvPr/>
        </p:nvSpPr>
        <p:spPr>
          <a:xfrm>
            <a:off x="6685803" y="1361328"/>
            <a:ext cx="4405239" cy="1067548"/>
          </a:xfrm>
          <a:prstGeom prst="roundRect">
            <a:avLst/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err="1">
                <a:solidFill>
                  <a:schemeClr val="tx1"/>
                </a:solidFill>
                <a:latin typeface="Avenir Book" panose="02000503020000020003" pitchFamily="2" charset="0"/>
                <a:cs typeface="Arial" panose="020B0604020202020204" pitchFamily="34" charset="0"/>
              </a:rPr>
              <a:t>Bitetto</a:t>
            </a:r>
            <a:r>
              <a:rPr lang="es-ES" sz="1400" dirty="0">
                <a:solidFill>
                  <a:schemeClr val="tx1"/>
                </a:solidFill>
                <a:latin typeface="Avenir Book" panose="02000503020000020003" pitchFamily="2" charset="0"/>
                <a:cs typeface="Arial" panose="020B0604020202020204" pitchFamily="34" charset="0"/>
              </a:rPr>
              <a:t> et al. (2023): compara enfoque clásico vs </a:t>
            </a:r>
            <a:r>
              <a:rPr lang="es-ES" sz="1400" dirty="0" err="1">
                <a:solidFill>
                  <a:schemeClr val="tx1"/>
                </a:solidFill>
                <a:latin typeface="Avenir Book" panose="02000503020000020003" pitchFamily="2" charset="0"/>
                <a:cs typeface="Arial" panose="020B0604020202020204" pitchFamily="34" charset="0"/>
              </a:rPr>
              <a:t>Random</a:t>
            </a:r>
            <a:r>
              <a:rPr lang="es-ES" sz="1400" dirty="0">
                <a:solidFill>
                  <a:schemeClr val="tx1"/>
                </a:solidFill>
                <a:latin typeface="Avenir Book" panose="02000503020000020003" pitchFamily="2" charset="0"/>
                <a:cs typeface="Arial" panose="020B0604020202020204" pitchFamily="34" charset="0"/>
              </a:rPr>
              <a:t> Forest y evidencia ventajas de ensambles para relaciones no lineales y datos heterogéneos. Tu tesis adopta ensambles por robustez ante ruido/variabilidad. </a:t>
            </a:r>
          </a:p>
        </p:txBody>
      </p:sp>
      <p:sp>
        <p:nvSpPr>
          <p:cNvPr id="10" name="Rectángulo: esquinas redondeadas 15">
            <a:extLst>
              <a:ext uri="{FF2B5EF4-FFF2-40B4-BE49-F238E27FC236}">
                <a16:creationId xmlns:a16="http://schemas.microsoft.com/office/drawing/2014/main" id="{619A71E9-4780-FC10-9F1E-101234B18A0D}"/>
              </a:ext>
            </a:extLst>
          </p:cNvPr>
          <p:cNvSpPr/>
          <p:nvPr/>
        </p:nvSpPr>
        <p:spPr>
          <a:xfrm>
            <a:off x="6685804" y="2532881"/>
            <a:ext cx="4405238" cy="1200920"/>
          </a:xfrm>
          <a:prstGeom prst="roundRect">
            <a:avLst/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tx1"/>
                </a:solidFill>
                <a:latin typeface="Avenir Book" panose="02000503020000020003" pitchFamily="2" charset="0"/>
                <a:cs typeface="Arial" panose="020B0604020202020204" pitchFamily="34" charset="0"/>
              </a:rPr>
              <a:t>La literatura enfatiza que el desempeño debe acompañarse de transparencia, trazabilidad y explicabilidad. Tu sistema incorpora trazabilidad operativa (registro de </a:t>
            </a:r>
            <a:r>
              <a:rPr lang="es-ES" sz="1400" dirty="0" err="1">
                <a:solidFill>
                  <a:schemeClr val="tx1"/>
                </a:solidFill>
                <a:latin typeface="Avenir Book" panose="02000503020000020003" pitchFamily="2" charset="0"/>
                <a:cs typeface="Arial" panose="020B0604020202020204" pitchFamily="34" charset="0"/>
              </a:rPr>
              <a:t>scoring</a:t>
            </a:r>
            <a:r>
              <a:rPr lang="es-ES" sz="1400" dirty="0">
                <a:solidFill>
                  <a:schemeClr val="tx1"/>
                </a:solidFill>
                <a:latin typeface="Avenir Book" panose="02000503020000020003" pitchFamily="2" charset="0"/>
                <a:cs typeface="Arial" panose="020B0604020202020204" pitchFamily="34" charset="0"/>
              </a:rPr>
              <a:t>) para auditoría institucional. </a:t>
            </a:r>
          </a:p>
        </p:txBody>
      </p:sp>
      <p:sp>
        <p:nvSpPr>
          <p:cNvPr id="11" name="Rectángulo: esquinas redondeadas 16">
            <a:extLst>
              <a:ext uri="{FF2B5EF4-FFF2-40B4-BE49-F238E27FC236}">
                <a16:creationId xmlns:a16="http://schemas.microsoft.com/office/drawing/2014/main" id="{AFEC07E9-9278-481D-064C-B78BFF09F2F2}"/>
              </a:ext>
            </a:extLst>
          </p:cNvPr>
          <p:cNvSpPr/>
          <p:nvPr/>
        </p:nvSpPr>
        <p:spPr>
          <a:xfrm>
            <a:off x="6685804" y="3885409"/>
            <a:ext cx="4405238" cy="972342"/>
          </a:xfrm>
          <a:prstGeom prst="roundRect">
            <a:avLst/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tx1"/>
                </a:solidFill>
                <a:latin typeface="Avenir Book" panose="02000503020000020003" pitchFamily="2" charset="0"/>
                <a:cs typeface="Arial" panose="020B0604020202020204" pitchFamily="34" charset="0"/>
              </a:rPr>
              <a:t>Estudios en </a:t>
            </a:r>
            <a:r>
              <a:rPr lang="es-ES" sz="1400" dirty="0" err="1">
                <a:solidFill>
                  <a:schemeClr val="tx1"/>
                </a:solidFill>
                <a:latin typeface="Avenir Book" panose="02000503020000020003" pitchFamily="2" charset="0"/>
                <a:cs typeface="Arial" panose="020B0604020202020204" pitchFamily="34" charset="0"/>
              </a:rPr>
              <a:t>LatAm</a:t>
            </a:r>
            <a:r>
              <a:rPr lang="es-ES" sz="1400" dirty="0">
                <a:solidFill>
                  <a:schemeClr val="tx1"/>
                </a:solidFill>
                <a:latin typeface="Avenir Book" panose="02000503020000020003" pitchFamily="2" charset="0"/>
                <a:cs typeface="Arial" panose="020B0604020202020204" pitchFamily="34" charset="0"/>
              </a:rPr>
              <a:t> subrayan que el éxito depende de limpieza, faltantes y desbalance, y recomiendan pipelines reproducibles. Tu trabajo prioriza pipeline operacional reproducible y escalable.</a:t>
            </a:r>
          </a:p>
        </p:txBody>
      </p:sp>
      <p:sp>
        <p:nvSpPr>
          <p:cNvPr id="12" name="Rectángulo: esquinas redondeadas 17">
            <a:extLst>
              <a:ext uri="{FF2B5EF4-FFF2-40B4-BE49-F238E27FC236}">
                <a16:creationId xmlns:a16="http://schemas.microsoft.com/office/drawing/2014/main" id="{1F80B1B3-CE11-969B-6A80-A09C392081F3}"/>
              </a:ext>
            </a:extLst>
          </p:cNvPr>
          <p:cNvSpPr/>
          <p:nvPr/>
        </p:nvSpPr>
        <p:spPr>
          <a:xfrm>
            <a:off x="6685804" y="5214243"/>
            <a:ext cx="4405238" cy="791149"/>
          </a:xfrm>
          <a:prstGeom prst="roundRect">
            <a:avLst/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tx1"/>
                </a:solidFill>
                <a:latin typeface="Avenir Book" panose="02000503020000020003" pitchFamily="2" charset="0"/>
                <a:cs typeface="Arial" panose="020B0604020202020204" pitchFamily="34" charset="0"/>
              </a:rPr>
              <a:t>Integra pipeline offline + pipeline en producción en Django, más un enfoque híbrido (ML + reglas/políticas) con trazabilidad.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473A2A8E-6DE1-2A94-FA36-B84144426B8E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>
            <a:off x="5127342" y="1895102"/>
            <a:ext cx="1558461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BE003DE-7617-D9CA-7E9F-E8F089723920}"/>
              </a:ext>
            </a:extLst>
          </p:cNvPr>
          <p:cNvCxnSpPr>
            <a:cxnSpLocks/>
          </p:cNvCxnSpPr>
          <p:nvPr/>
        </p:nvCxnSpPr>
        <p:spPr>
          <a:xfrm>
            <a:off x="5110552" y="3191788"/>
            <a:ext cx="1536250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6DA2E01D-BAB7-07E6-A157-8FC3E335B25E}"/>
              </a:ext>
            </a:extLst>
          </p:cNvPr>
          <p:cNvCxnSpPr>
            <a:cxnSpLocks/>
          </p:cNvCxnSpPr>
          <p:nvPr/>
        </p:nvCxnSpPr>
        <p:spPr>
          <a:xfrm>
            <a:off x="5103813" y="4416172"/>
            <a:ext cx="1536250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C3B6EDA6-B3E5-0025-90EA-99403A06C19C}"/>
              </a:ext>
            </a:extLst>
          </p:cNvPr>
          <p:cNvCxnSpPr>
            <a:cxnSpLocks/>
          </p:cNvCxnSpPr>
          <p:nvPr/>
        </p:nvCxnSpPr>
        <p:spPr>
          <a:xfrm>
            <a:off x="5134700" y="5668265"/>
            <a:ext cx="1536250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Google Shape;347;p4">
            <a:extLst>
              <a:ext uri="{FF2B5EF4-FFF2-40B4-BE49-F238E27FC236}">
                <a16:creationId xmlns:a16="http://schemas.microsoft.com/office/drawing/2014/main" id="{E68744BA-3FA5-9B8B-5CE0-9CB564516161}"/>
              </a:ext>
            </a:extLst>
          </p:cNvPr>
          <p:cNvSpPr/>
          <p:nvPr/>
        </p:nvSpPr>
        <p:spPr>
          <a:xfrm>
            <a:off x="0" y="1433020"/>
            <a:ext cx="1576552" cy="66507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 Book" panose="02000503020000020003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348;p4">
            <a:extLst>
              <a:ext uri="{FF2B5EF4-FFF2-40B4-BE49-F238E27FC236}">
                <a16:creationId xmlns:a16="http://schemas.microsoft.com/office/drawing/2014/main" id="{C999E749-4E1F-7A84-4AD8-866831F6BEFB}"/>
              </a:ext>
            </a:extLst>
          </p:cNvPr>
          <p:cNvSpPr txBox="1"/>
          <p:nvPr/>
        </p:nvSpPr>
        <p:spPr>
          <a:xfrm>
            <a:off x="720937" y="529226"/>
            <a:ext cx="5006648" cy="62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lang="es-PE" sz="3600" b="1" dirty="0">
                <a:latin typeface="Avenir Book" panose="02000503020000020003" pitchFamily="2" charset="0"/>
                <a:ea typeface="Arial"/>
                <a:cs typeface="Arial"/>
                <a:sym typeface="Arial"/>
              </a:rPr>
              <a:t>Trabajos relacionados</a:t>
            </a:r>
            <a:endParaRPr sz="3600" b="1" dirty="0">
              <a:latin typeface="Avenir Book" panose="02000503020000020003" pitchFamily="2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0563747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01A2CFAF-5A99-64F3-4D69-415021290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799" y="133350"/>
            <a:ext cx="7897355" cy="6195424"/>
          </a:xfrm>
          <a:prstGeom prst="rect">
            <a:avLst/>
          </a:prstGeom>
        </p:spPr>
      </p:pic>
      <p:sp>
        <p:nvSpPr>
          <p:cNvPr id="6" name="Google Shape;347;p4">
            <a:extLst>
              <a:ext uri="{FF2B5EF4-FFF2-40B4-BE49-F238E27FC236}">
                <a16:creationId xmlns:a16="http://schemas.microsoft.com/office/drawing/2014/main" id="{D5166995-C6A6-350E-541D-A5713EC4D4B4}"/>
              </a:ext>
            </a:extLst>
          </p:cNvPr>
          <p:cNvSpPr/>
          <p:nvPr/>
        </p:nvSpPr>
        <p:spPr>
          <a:xfrm>
            <a:off x="0" y="1433020"/>
            <a:ext cx="1576552" cy="66507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 Book" panose="02000503020000020003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48;p4">
            <a:extLst>
              <a:ext uri="{FF2B5EF4-FFF2-40B4-BE49-F238E27FC236}">
                <a16:creationId xmlns:a16="http://schemas.microsoft.com/office/drawing/2014/main" id="{5116B45A-D21E-E9EF-234D-3B55AF972E85}"/>
              </a:ext>
            </a:extLst>
          </p:cNvPr>
          <p:cNvSpPr txBox="1"/>
          <p:nvPr/>
        </p:nvSpPr>
        <p:spPr>
          <a:xfrm>
            <a:off x="720937" y="529226"/>
            <a:ext cx="5006648" cy="62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lang="es-PE" sz="3600" b="1" dirty="0">
                <a:latin typeface="Avenir Book" panose="02000503020000020003" pitchFamily="2" charset="0"/>
                <a:ea typeface="Arial"/>
                <a:cs typeface="Arial"/>
                <a:sym typeface="Arial"/>
              </a:rPr>
              <a:t>Metodología</a:t>
            </a:r>
            <a:endParaRPr sz="3600" b="1" dirty="0">
              <a:latin typeface="Avenir Book" panose="02000503020000020003" pitchFamily="2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53764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D2A78-0A27-F241-AD43-1F3C07C9F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605DE7-3D35-A0BC-CF37-B9034EAB4D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597025"/>
            <a:ext cx="6880013" cy="4351338"/>
          </a:xfrm>
        </p:spPr>
        <p:txBody>
          <a:bodyPr/>
          <a:lstStyle/>
          <a:p>
            <a:r>
              <a:rPr lang="es-EC" b="1" dirty="0">
                <a:latin typeface="Avenir Book" panose="02000503020000020003" pitchFamily="2" charset="0"/>
              </a:rPr>
              <a:t>Sin fuga de información</a:t>
            </a:r>
            <a:r>
              <a:rPr lang="es-EC" dirty="0">
                <a:latin typeface="Avenir Book" panose="02000503020000020003" pitchFamily="2" charset="0"/>
              </a:rPr>
              <a:t>: </a:t>
            </a:r>
            <a:r>
              <a:rPr lang="es-EC" dirty="0" err="1">
                <a:latin typeface="Avenir Book" panose="02000503020000020003" pitchFamily="2" charset="0"/>
              </a:rPr>
              <a:t>max_dias_mora</a:t>
            </a:r>
            <a:r>
              <a:rPr lang="es-EC" dirty="0">
                <a:latin typeface="Avenir Book" panose="02000503020000020003" pitchFamily="2" charset="0"/>
              </a:rPr>
              <a:t> define el target pero se excluye como </a:t>
            </a:r>
            <a:r>
              <a:rPr lang="es-EC" dirty="0" err="1">
                <a:latin typeface="Avenir Book" panose="02000503020000020003" pitchFamily="2" charset="0"/>
              </a:rPr>
              <a:t>feature</a:t>
            </a:r>
            <a:r>
              <a:rPr lang="es-EC" dirty="0">
                <a:latin typeface="Avenir Book" panose="02000503020000020003" pitchFamily="2" charset="0"/>
              </a:rPr>
              <a:t> para evitar métricas infladas. </a:t>
            </a:r>
          </a:p>
          <a:p>
            <a:r>
              <a:rPr lang="es-EC" b="1" dirty="0">
                <a:latin typeface="Avenir Book" panose="02000503020000020003" pitchFamily="2" charset="0"/>
              </a:rPr>
              <a:t>Evaluación realista</a:t>
            </a:r>
            <a:r>
              <a:rPr lang="es-EC" dirty="0">
                <a:latin typeface="Avenir Book" panose="02000503020000020003" pitchFamily="2" charset="0"/>
              </a:rPr>
              <a:t>: entrenamiento en </a:t>
            </a:r>
            <a:r>
              <a:rPr lang="es-EC" dirty="0" err="1">
                <a:latin typeface="Avenir Book" panose="02000503020000020003" pitchFamily="2" charset="0"/>
              </a:rPr>
              <a:t>X_train</a:t>
            </a:r>
            <a:r>
              <a:rPr lang="es-EC" dirty="0">
                <a:latin typeface="Avenir Book" panose="02000503020000020003" pitchFamily="2" charset="0"/>
              </a:rPr>
              <a:t> y validación en </a:t>
            </a:r>
            <a:r>
              <a:rPr lang="es-EC" dirty="0" err="1">
                <a:latin typeface="Avenir Book" panose="02000503020000020003" pitchFamily="2" charset="0"/>
              </a:rPr>
              <a:t>X_test</a:t>
            </a:r>
            <a:r>
              <a:rPr lang="es-EC" dirty="0">
                <a:latin typeface="Avenir Book" panose="02000503020000020003" pitchFamily="2" charset="0"/>
              </a:rPr>
              <a:t> aislado para medir generalización.</a:t>
            </a:r>
          </a:p>
          <a:p>
            <a:r>
              <a:rPr lang="es-EC" b="1" dirty="0">
                <a:latin typeface="Avenir Book" panose="02000503020000020003" pitchFamily="2" charset="0"/>
              </a:rPr>
              <a:t>Rigor experimental</a:t>
            </a:r>
            <a:r>
              <a:rPr lang="es-EC" dirty="0">
                <a:latin typeface="Avenir Book" panose="02000503020000020003" pitchFamily="2" charset="0"/>
              </a:rPr>
              <a:t>: </a:t>
            </a:r>
            <a:r>
              <a:rPr lang="es-EC" dirty="0" err="1">
                <a:latin typeface="Avenir Book" panose="02000503020000020003" pitchFamily="2" charset="0"/>
              </a:rPr>
              <a:t>random_state</a:t>
            </a:r>
            <a:r>
              <a:rPr lang="es-EC" dirty="0">
                <a:latin typeface="Avenir Book" panose="02000503020000020003" pitchFamily="2" charset="0"/>
              </a:rPr>
              <a:t>=42 garantiza reproducibilidad y </a:t>
            </a:r>
            <a:r>
              <a:rPr lang="es-EC" dirty="0" err="1">
                <a:latin typeface="Avenir Book" panose="02000503020000020003" pitchFamily="2" charset="0"/>
              </a:rPr>
              <a:t>class_weight</a:t>
            </a:r>
            <a:r>
              <a:rPr lang="es-EC" dirty="0">
                <a:latin typeface="Avenir Book" panose="02000503020000020003" pitchFamily="2" charset="0"/>
              </a:rPr>
              <a:t>="</a:t>
            </a:r>
            <a:r>
              <a:rPr lang="es-EC" dirty="0" err="1">
                <a:latin typeface="Avenir Book" panose="02000503020000020003" pitchFamily="2" charset="0"/>
              </a:rPr>
              <a:t>balanced</a:t>
            </a:r>
            <a:r>
              <a:rPr lang="es-EC" dirty="0">
                <a:latin typeface="Avenir Book" panose="02000503020000020003" pitchFamily="2" charset="0"/>
              </a:rPr>
              <a:t>" compensa desbalance de clases.</a:t>
            </a:r>
          </a:p>
        </p:txBody>
      </p:sp>
      <p:sp>
        <p:nvSpPr>
          <p:cNvPr id="6" name="Google Shape;347;p4">
            <a:extLst>
              <a:ext uri="{FF2B5EF4-FFF2-40B4-BE49-F238E27FC236}">
                <a16:creationId xmlns:a16="http://schemas.microsoft.com/office/drawing/2014/main" id="{03C2A435-EF76-EBFE-FA45-32A48F610611}"/>
              </a:ext>
            </a:extLst>
          </p:cNvPr>
          <p:cNvSpPr/>
          <p:nvPr/>
        </p:nvSpPr>
        <p:spPr>
          <a:xfrm>
            <a:off x="0" y="1433020"/>
            <a:ext cx="1576552" cy="66507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 Book" panose="02000503020000020003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48;p4">
            <a:extLst>
              <a:ext uri="{FF2B5EF4-FFF2-40B4-BE49-F238E27FC236}">
                <a16:creationId xmlns:a16="http://schemas.microsoft.com/office/drawing/2014/main" id="{42ABE019-B900-59C3-57B4-7629FF8F2690}"/>
              </a:ext>
            </a:extLst>
          </p:cNvPr>
          <p:cNvSpPr txBox="1"/>
          <p:nvPr/>
        </p:nvSpPr>
        <p:spPr>
          <a:xfrm>
            <a:off x="720936" y="529226"/>
            <a:ext cx="6880013" cy="62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lang="es-PE" sz="3600" b="1" dirty="0">
                <a:latin typeface="Avenir Book" panose="02000503020000020003" pitchFamily="2" charset="0"/>
                <a:ea typeface="Arial"/>
                <a:cs typeface="Arial"/>
                <a:sym typeface="Arial"/>
              </a:rPr>
              <a:t>Diseño Metodológico / pipeline</a:t>
            </a:r>
            <a:endParaRPr sz="3600" b="1" dirty="0">
              <a:latin typeface="Avenir Book" panose="02000503020000020003" pitchFamily="2" charset="0"/>
              <a:ea typeface="Arial"/>
              <a:cs typeface="Arial"/>
              <a:sym typeface="Arial"/>
            </a:endParaRPr>
          </a:p>
        </p:txBody>
      </p:sp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863C2913-0869-E136-138F-516E70989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1520" y="907835"/>
            <a:ext cx="1989608" cy="4974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85308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47;p4">
            <a:extLst>
              <a:ext uri="{FF2B5EF4-FFF2-40B4-BE49-F238E27FC236}">
                <a16:creationId xmlns:a16="http://schemas.microsoft.com/office/drawing/2014/main" id="{D5166995-C6A6-350E-541D-A5713EC4D4B4}"/>
              </a:ext>
            </a:extLst>
          </p:cNvPr>
          <p:cNvSpPr/>
          <p:nvPr/>
        </p:nvSpPr>
        <p:spPr>
          <a:xfrm>
            <a:off x="0" y="1117377"/>
            <a:ext cx="1576552" cy="66507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 Book" panose="02000503020000020003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48;p4">
            <a:extLst>
              <a:ext uri="{FF2B5EF4-FFF2-40B4-BE49-F238E27FC236}">
                <a16:creationId xmlns:a16="http://schemas.microsoft.com/office/drawing/2014/main" id="{5116B45A-D21E-E9EF-234D-3B55AF972E85}"/>
              </a:ext>
            </a:extLst>
          </p:cNvPr>
          <p:cNvSpPr txBox="1"/>
          <p:nvPr/>
        </p:nvSpPr>
        <p:spPr>
          <a:xfrm>
            <a:off x="720937" y="529226"/>
            <a:ext cx="5006648" cy="62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lang="es-PE" sz="3600" b="1" dirty="0">
                <a:latin typeface="Avenir Book" panose="02000503020000020003" pitchFamily="2" charset="0"/>
                <a:ea typeface="Arial"/>
                <a:cs typeface="Arial"/>
                <a:sym typeface="Arial"/>
              </a:rPr>
              <a:t>Análisis de la Solución</a:t>
            </a:r>
            <a:endParaRPr sz="3600" b="1" dirty="0">
              <a:latin typeface="Avenir Book" panose="02000503020000020003" pitchFamily="2" charset="0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5346AAE-FC10-4E41-7FDB-D0C137FB43E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755" y="1390323"/>
            <a:ext cx="11212490" cy="468695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8E097F6-A746-DE9E-A9D2-55FEC9FD14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919" y="1456233"/>
            <a:ext cx="6240026" cy="3148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69697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519B00-93D9-357A-923E-02954AE37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755" y="1808238"/>
            <a:ext cx="5424948" cy="3395304"/>
          </a:xfrm>
        </p:spPr>
        <p:txBody>
          <a:bodyPr/>
          <a:lstStyle/>
          <a:p>
            <a:r>
              <a:rPr lang="es-ES" sz="2000" dirty="0">
                <a:latin typeface="Avenir Book" panose="02000503020000020003" pitchFamily="2" charset="0"/>
              </a:rPr>
              <a:t>El </a:t>
            </a:r>
            <a:r>
              <a:rPr lang="es-ES" sz="2000" dirty="0" err="1">
                <a:latin typeface="Avenir Book" panose="02000503020000020003" pitchFamily="2" charset="0"/>
              </a:rPr>
              <a:t>scoring</a:t>
            </a:r>
            <a:r>
              <a:rPr lang="es-ES" sz="2000" dirty="0">
                <a:latin typeface="Avenir Book" panose="02000503020000020003" pitchFamily="2" charset="0"/>
              </a:rPr>
              <a:t> en producción usa </a:t>
            </a:r>
            <a:r>
              <a:rPr lang="es-ES" sz="2000" dirty="0" err="1">
                <a:latin typeface="Avenir Book" panose="02000503020000020003" pitchFamily="2" charset="0"/>
              </a:rPr>
              <a:t>predict_proba</a:t>
            </a:r>
            <a:r>
              <a:rPr lang="es-ES" sz="2000" dirty="0">
                <a:latin typeface="Avenir Book" panose="02000503020000020003" pitchFamily="2" charset="0"/>
              </a:rPr>
              <a:t> y se convierte en etiqueta mediante </a:t>
            </a:r>
            <a:r>
              <a:rPr lang="es-ES" sz="2000" dirty="0" err="1">
                <a:latin typeface="Avenir Book" panose="02000503020000020003" pitchFamily="2" charset="0"/>
              </a:rPr>
              <a:t>threshold_proba</a:t>
            </a:r>
            <a:r>
              <a:rPr lang="es-ES" sz="2000" dirty="0">
                <a:latin typeface="Avenir Book" panose="02000503020000020003" pitchFamily="2" charset="0"/>
              </a:rPr>
              <a:t> (parámetro controlado y configurable por política). </a:t>
            </a:r>
          </a:p>
          <a:p>
            <a:r>
              <a:rPr lang="es-ES" sz="2000" dirty="0">
                <a:latin typeface="Avenir Book" panose="02000503020000020003" pitchFamily="2" charset="0"/>
              </a:rPr>
              <a:t>Se mantiene explícito el umbral para evitar ajustes informales y asegurar comparabilidad entre ejecuciones. </a:t>
            </a:r>
          </a:p>
          <a:p>
            <a:r>
              <a:rPr lang="es-ES" sz="2000" dirty="0">
                <a:latin typeface="Avenir Book" panose="02000503020000020003" pitchFamily="2" charset="0"/>
              </a:rPr>
              <a:t>La definición del target queda documentada y estable para reproducibilidad de métricas y decisiones.</a:t>
            </a:r>
            <a:endParaRPr lang="es-EC" sz="2000" dirty="0">
              <a:latin typeface="Avenir Book" panose="02000503020000020003" pitchFamily="2" charset="0"/>
            </a:endParaRPr>
          </a:p>
        </p:txBody>
      </p:sp>
      <p:sp>
        <p:nvSpPr>
          <p:cNvPr id="6" name="Google Shape;347;p4">
            <a:extLst>
              <a:ext uri="{FF2B5EF4-FFF2-40B4-BE49-F238E27FC236}">
                <a16:creationId xmlns:a16="http://schemas.microsoft.com/office/drawing/2014/main" id="{D5166995-C6A6-350E-541D-A5713EC4D4B4}"/>
              </a:ext>
            </a:extLst>
          </p:cNvPr>
          <p:cNvSpPr/>
          <p:nvPr/>
        </p:nvSpPr>
        <p:spPr>
          <a:xfrm>
            <a:off x="0" y="1433020"/>
            <a:ext cx="1576552" cy="66507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 Book" panose="02000503020000020003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48;p4">
            <a:extLst>
              <a:ext uri="{FF2B5EF4-FFF2-40B4-BE49-F238E27FC236}">
                <a16:creationId xmlns:a16="http://schemas.microsoft.com/office/drawing/2014/main" id="{5116B45A-D21E-E9EF-234D-3B55AF972E85}"/>
              </a:ext>
            </a:extLst>
          </p:cNvPr>
          <p:cNvSpPr txBox="1"/>
          <p:nvPr/>
        </p:nvSpPr>
        <p:spPr>
          <a:xfrm>
            <a:off x="720936" y="529226"/>
            <a:ext cx="10823364" cy="62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lang="es-ES" sz="3600" b="1" dirty="0">
                <a:latin typeface="Avenir Book" panose="02000503020000020003" pitchFamily="2" charset="0"/>
                <a:ea typeface="Arial"/>
                <a:cs typeface="Arial"/>
                <a:sym typeface="Arial"/>
              </a:rPr>
              <a:t>Diseño de la solución (parámetros fijos y definiciones)</a:t>
            </a:r>
            <a:endParaRPr sz="3600" b="1" dirty="0">
              <a:latin typeface="Avenir Book" panose="02000503020000020003" pitchFamily="2" charset="0"/>
              <a:ea typeface="Arial"/>
              <a:cs typeface="Arial"/>
              <a:sym typeface="Arial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994EE42-43AB-E714-9943-DAEEC3955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1097" y="1627346"/>
            <a:ext cx="6030167" cy="4067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64929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FFA1C-88B7-DE9A-C771-886B817C2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BAE495B-0A21-7DDD-C0CB-1E5A4D724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76" y="1781916"/>
            <a:ext cx="5875696" cy="4470417"/>
          </a:xfrm>
        </p:spPr>
        <p:txBody>
          <a:bodyPr/>
          <a:lstStyle/>
          <a:p>
            <a:r>
              <a:rPr lang="es-ES" sz="2400" dirty="0">
                <a:latin typeface="Avenir Book" panose="02000503020000020003" pitchFamily="2" charset="0"/>
              </a:rPr>
              <a:t>El aplicativo registra la última ejecución de </a:t>
            </a:r>
            <a:r>
              <a:rPr lang="es-ES" sz="2400" dirty="0" err="1">
                <a:latin typeface="Avenir Book" panose="02000503020000020003" pitchFamily="2" charset="0"/>
              </a:rPr>
              <a:t>scoring</a:t>
            </a:r>
            <a:r>
              <a:rPr lang="es-ES" sz="2400" dirty="0">
                <a:latin typeface="Avenir Book" panose="02000503020000020003" pitchFamily="2" charset="0"/>
              </a:rPr>
              <a:t> con campos ml_*: </a:t>
            </a:r>
            <a:r>
              <a:rPr lang="es-ES" sz="2400" dirty="0" err="1">
                <a:latin typeface="Avenir Book" panose="02000503020000020003" pitchFamily="2" charset="0"/>
              </a:rPr>
              <a:t>ml_proba_last</a:t>
            </a:r>
            <a:r>
              <a:rPr lang="es-ES" sz="2400" dirty="0">
                <a:latin typeface="Avenir Book" panose="02000503020000020003" pitchFamily="2" charset="0"/>
              </a:rPr>
              <a:t>, </a:t>
            </a:r>
            <a:r>
              <a:rPr lang="es-ES" sz="2400" dirty="0" err="1">
                <a:latin typeface="Avenir Book" panose="02000503020000020003" pitchFamily="2" charset="0"/>
              </a:rPr>
              <a:t>ml_pred_last</a:t>
            </a:r>
            <a:r>
              <a:rPr lang="es-ES" sz="2400" dirty="0">
                <a:latin typeface="Avenir Book" panose="02000503020000020003" pitchFamily="2" charset="0"/>
              </a:rPr>
              <a:t>, </a:t>
            </a:r>
            <a:r>
              <a:rPr lang="es-ES" sz="2400" dirty="0" err="1">
                <a:latin typeface="Avenir Book" panose="02000503020000020003" pitchFamily="2" charset="0"/>
              </a:rPr>
              <a:t>ml_scored_at</a:t>
            </a:r>
            <a:r>
              <a:rPr lang="es-ES" sz="2400" dirty="0">
                <a:latin typeface="Avenir Book" panose="02000503020000020003" pitchFamily="2" charset="0"/>
              </a:rPr>
              <a:t>, </a:t>
            </a:r>
            <a:r>
              <a:rPr lang="es-ES" sz="2400" dirty="0" err="1">
                <a:latin typeface="Avenir Book" panose="02000503020000020003" pitchFamily="2" charset="0"/>
              </a:rPr>
              <a:t>ml_scored_by</a:t>
            </a:r>
            <a:r>
              <a:rPr lang="es-ES" sz="2400" dirty="0">
                <a:latin typeface="Avenir Book" panose="02000503020000020003" pitchFamily="2" charset="0"/>
              </a:rPr>
              <a:t>. </a:t>
            </a:r>
          </a:p>
          <a:p>
            <a:r>
              <a:rPr lang="es-ES" sz="2400" dirty="0">
                <a:latin typeface="Avenir Book" panose="02000503020000020003" pitchFamily="2" charset="0"/>
              </a:rPr>
              <a:t>Esto permite reconstruir qué decisión produjo el sistema y cuándo, soportando revisión y validación posterior. </a:t>
            </a:r>
          </a:p>
          <a:p>
            <a:r>
              <a:rPr lang="es-ES" sz="2400" dirty="0">
                <a:latin typeface="Avenir Book" panose="02000503020000020003" pitchFamily="2" charset="0"/>
              </a:rPr>
              <a:t>Habilita base para monitoreo futuro: calibración del umbral y reentrenamiento controlado. </a:t>
            </a:r>
            <a:endParaRPr lang="es-EC" sz="2400" dirty="0">
              <a:latin typeface="Avenir Book" panose="02000503020000020003" pitchFamily="2" charset="0"/>
            </a:endParaRPr>
          </a:p>
        </p:txBody>
      </p:sp>
      <p:sp>
        <p:nvSpPr>
          <p:cNvPr id="6" name="Google Shape;347;p4">
            <a:extLst>
              <a:ext uri="{FF2B5EF4-FFF2-40B4-BE49-F238E27FC236}">
                <a16:creationId xmlns:a16="http://schemas.microsoft.com/office/drawing/2014/main" id="{4E70BF7F-5D61-5E48-F480-E84E99A1FDED}"/>
              </a:ext>
            </a:extLst>
          </p:cNvPr>
          <p:cNvSpPr/>
          <p:nvPr/>
        </p:nvSpPr>
        <p:spPr>
          <a:xfrm>
            <a:off x="0" y="1433020"/>
            <a:ext cx="1576552" cy="66507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 Book" panose="02000503020000020003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48;p4">
            <a:extLst>
              <a:ext uri="{FF2B5EF4-FFF2-40B4-BE49-F238E27FC236}">
                <a16:creationId xmlns:a16="http://schemas.microsoft.com/office/drawing/2014/main" id="{333216DE-736A-FF80-ABB0-77C03A24C65E}"/>
              </a:ext>
            </a:extLst>
          </p:cNvPr>
          <p:cNvSpPr txBox="1"/>
          <p:nvPr/>
        </p:nvSpPr>
        <p:spPr>
          <a:xfrm>
            <a:off x="720936" y="529226"/>
            <a:ext cx="10515600" cy="62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lang="es-PE" sz="3600" b="1" dirty="0">
                <a:latin typeface="Avenir Book" panose="02000503020000020003" pitchFamily="2" charset="0"/>
                <a:ea typeface="Arial"/>
                <a:cs typeface="Arial"/>
                <a:sym typeface="Arial"/>
              </a:rPr>
              <a:t>Desarrollo de la solución (Trazabilidad y auditoría) 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E57F5B0-7542-D675-5BBA-D00E33C78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0485" y="1433020"/>
            <a:ext cx="4675739" cy="4470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6412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FFA1C-88B7-DE9A-C771-886B817C2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BAE495B-0A21-7DDD-C0CB-1E5A4D724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75" y="1781916"/>
            <a:ext cx="5688883" cy="4470417"/>
          </a:xfrm>
        </p:spPr>
        <p:txBody>
          <a:bodyPr/>
          <a:lstStyle/>
          <a:p>
            <a:r>
              <a:rPr lang="es-ES" sz="2400" dirty="0">
                <a:latin typeface="Avenir Book" panose="02000503020000020003" pitchFamily="2" charset="0"/>
              </a:rPr>
              <a:t>En pruebas </a:t>
            </a:r>
            <a:r>
              <a:rPr lang="es-ES" sz="2400" dirty="0" err="1">
                <a:latin typeface="Avenir Book" panose="02000503020000020003" pitchFamily="2" charset="0"/>
              </a:rPr>
              <a:t>end-to-end</a:t>
            </a:r>
            <a:r>
              <a:rPr lang="es-ES" sz="2400" dirty="0">
                <a:latin typeface="Avenir Book" panose="02000503020000020003" pitchFamily="2" charset="0"/>
              </a:rPr>
              <a:t>, el sistema ejecuta inferencia y luego aplica umbral + lógica híbrida (reglas normativas + ML). </a:t>
            </a:r>
          </a:p>
          <a:p>
            <a:r>
              <a:rPr lang="es-ES" sz="2400" dirty="0">
                <a:latin typeface="Avenir Book" panose="02000503020000020003" pitchFamily="2" charset="0"/>
              </a:rPr>
              <a:t>La salida final combina: probabilidad del modelo + clasificación normativa + decisión final, coherente con el esquema híbrido. </a:t>
            </a:r>
          </a:p>
          <a:p>
            <a:r>
              <a:rPr lang="es-ES" sz="2400" dirty="0">
                <a:latin typeface="Avenir Book" panose="02000503020000020003" pitchFamily="2" charset="0"/>
              </a:rPr>
              <a:t>Confirma operación integrada (no solo offline): reglas institucionales + trazabilidad dentro del aplicativo.</a:t>
            </a:r>
            <a:endParaRPr lang="es-EC" sz="2400" dirty="0">
              <a:latin typeface="Avenir Book" panose="02000503020000020003" pitchFamily="2" charset="0"/>
            </a:endParaRPr>
          </a:p>
        </p:txBody>
      </p:sp>
      <p:sp>
        <p:nvSpPr>
          <p:cNvPr id="6" name="Google Shape;347;p4">
            <a:extLst>
              <a:ext uri="{FF2B5EF4-FFF2-40B4-BE49-F238E27FC236}">
                <a16:creationId xmlns:a16="http://schemas.microsoft.com/office/drawing/2014/main" id="{4E70BF7F-5D61-5E48-F480-E84E99A1FDED}"/>
              </a:ext>
            </a:extLst>
          </p:cNvPr>
          <p:cNvSpPr/>
          <p:nvPr/>
        </p:nvSpPr>
        <p:spPr>
          <a:xfrm>
            <a:off x="0" y="1433020"/>
            <a:ext cx="1576552" cy="66507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 Book" panose="02000503020000020003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48;p4">
            <a:extLst>
              <a:ext uri="{FF2B5EF4-FFF2-40B4-BE49-F238E27FC236}">
                <a16:creationId xmlns:a16="http://schemas.microsoft.com/office/drawing/2014/main" id="{333216DE-736A-FF80-ABB0-77C03A24C65E}"/>
              </a:ext>
            </a:extLst>
          </p:cNvPr>
          <p:cNvSpPr txBox="1"/>
          <p:nvPr/>
        </p:nvSpPr>
        <p:spPr>
          <a:xfrm>
            <a:off x="720936" y="271238"/>
            <a:ext cx="11051964" cy="62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lang="es-ES" sz="3600" b="1" dirty="0">
                <a:latin typeface="Avenir Book" panose="02000503020000020003" pitchFamily="2" charset="0"/>
                <a:ea typeface="Arial"/>
                <a:cs typeface="Arial"/>
                <a:sym typeface="Arial"/>
              </a:rPr>
              <a:t>Desarrollo de la solución (Enfoque híbrido y coherencia institucional)</a:t>
            </a:r>
            <a:endParaRPr lang="es-PE" sz="3600" b="1" dirty="0">
              <a:latin typeface="Avenir Book" panose="02000503020000020003" pitchFamily="2" charset="0"/>
              <a:ea typeface="Arial"/>
              <a:cs typeface="Arial"/>
              <a:sym typeface="Arial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C725849-ADD4-2E97-A608-975573CE5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6281" y="1189703"/>
            <a:ext cx="4589797" cy="4748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2697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519B00-93D9-357A-923E-02954AE37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33925" cy="4351338"/>
          </a:xfrm>
        </p:spPr>
        <p:txBody>
          <a:bodyPr/>
          <a:lstStyle/>
          <a:p>
            <a:r>
              <a:rPr lang="es-ES" dirty="0">
                <a:latin typeface="Avenir Book" panose="02000503020000020003" pitchFamily="2" charset="0"/>
              </a:rPr>
              <a:t>Cada carga se registra como lote (</a:t>
            </a:r>
            <a:r>
              <a:rPr lang="es-ES" dirty="0" err="1">
                <a:latin typeface="Avenir Book" panose="02000503020000020003" pitchFamily="2" charset="0"/>
              </a:rPr>
              <a:t>batch</a:t>
            </a:r>
            <a:r>
              <a:rPr lang="es-ES" dirty="0">
                <a:latin typeface="Avenir Book" panose="02000503020000020003" pitchFamily="2" charset="0"/>
              </a:rPr>
              <a:t>) con indicadores operativos para auditoría. </a:t>
            </a:r>
          </a:p>
          <a:p>
            <a:r>
              <a:rPr lang="es-ES" dirty="0">
                <a:latin typeface="Avenir Book" panose="02000503020000020003" pitchFamily="2" charset="0"/>
              </a:rPr>
              <a:t>Métricas verificadas: filas procesadas, insertadas, omitidas y errores durante importación. </a:t>
            </a:r>
          </a:p>
          <a:p>
            <a:r>
              <a:rPr lang="es-ES" dirty="0">
                <a:latin typeface="Avenir Book" panose="02000503020000020003" pitchFamily="2" charset="0"/>
              </a:rPr>
              <a:t>Filas rechazadas evidencian controles de calidad, no fallos del sistema.</a:t>
            </a:r>
            <a:endParaRPr lang="es-EC" dirty="0">
              <a:latin typeface="Avenir Book" panose="02000503020000020003" pitchFamily="2" charset="0"/>
            </a:endParaRPr>
          </a:p>
        </p:txBody>
      </p:sp>
      <p:sp>
        <p:nvSpPr>
          <p:cNvPr id="6" name="Google Shape;347;p4">
            <a:extLst>
              <a:ext uri="{FF2B5EF4-FFF2-40B4-BE49-F238E27FC236}">
                <a16:creationId xmlns:a16="http://schemas.microsoft.com/office/drawing/2014/main" id="{D5166995-C6A6-350E-541D-A5713EC4D4B4}"/>
              </a:ext>
            </a:extLst>
          </p:cNvPr>
          <p:cNvSpPr/>
          <p:nvPr/>
        </p:nvSpPr>
        <p:spPr>
          <a:xfrm>
            <a:off x="0" y="1433020"/>
            <a:ext cx="1576552" cy="66507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 Book" panose="02000503020000020003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48;p4">
            <a:extLst>
              <a:ext uri="{FF2B5EF4-FFF2-40B4-BE49-F238E27FC236}">
                <a16:creationId xmlns:a16="http://schemas.microsoft.com/office/drawing/2014/main" id="{5116B45A-D21E-E9EF-234D-3B55AF972E85}"/>
              </a:ext>
            </a:extLst>
          </p:cNvPr>
          <p:cNvSpPr txBox="1"/>
          <p:nvPr/>
        </p:nvSpPr>
        <p:spPr>
          <a:xfrm>
            <a:off x="720936" y="529226"/>
            <a:ext cx="5911091" cy="62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lang="es-PE" sz="3600" b="1" dirty="0">
                <a:latin typeface="Avenir Book" panose="02000503020000020003" pitchFamily="2" charset="0"/>
                <a:ea typeface="Arial"/>
                <a:cs typeface="Arial"/>
                <a:sym typeface="Arial"/>
              </a:rPr>
              <a:t>Pruebas y validación</a:t>
            </a:r>
            <a:endParaRPr sz="3600" b="1" dirty="0">
              <a:latin typeface="Avenir Book" panose="02000503020000020003" pitchFamily="2" charset="0"/>
              <a:ea typeface="Arial"/>
              <a:cs typeface="Arial"/>
              <a:sym typeface="Arial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1FEEBC4-9C7A-31F4-81CF-225C078AD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125" y="1252055"/>
            <a:ext cx="6286984" cy="2582155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DAC46E03-0348-82BD-C22B-B38ED0087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71" y="4189177"/>
            <a:ext cx="5911091" cy="1654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6182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47;p4">
            <a:extLst>
              <a:ext uri="{FF2B5EF4-FFF2-40B4-BE49-F238E27FC236}">
                <a16:creationId xmlns:a16="http://schemas.microsoft.com/office/drawing/2014/main" id="{D5166995-C6A6-350E-541D-A5713EC4D4B4}"/>
              </a:ext>
            </a:extLst>
          </p:cNvPr>
          <p:cNvSpPr/>
          <p:nvPr/>
        </p:nvSpPr>
        <p:spPr>
          <a:xfrm>
            <a:off x="0" y="1433020"/>
            <a:ext cx="1576552" cy="66507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 Book" panose="02000503020000020003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48;p4">
            <a:extLst>
              <a:ext uri="{FF2B5EF4-FFF2-40B4-BE49-F238E27FC236}">
                <a16:creationId xmlns:a16="http://schemas.microsoft.com/office/drawing/2014/main" id="{5116B45A-D21E-E9EF-234D-3B55AF972E85}"/>
              </a:ext>
            </a:extLst>
          </p:cNvPr>
          <p:cNvSpPr txBox="1"/>
          <p:nvPr/>
        </p:nvSpPr>
        <p:spPr>
          <a:xfrm>
            <a:off x="720936" y="529226"/>
            <a:ext cx="5911091" cy="62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lang="es-PE" sz="3600" b="1" dirty="0">
                <a:latin typeface="Avenir Book" panose="02000503020000020003" pitchFamily="2" charset="0"/>
                <a:ea typeface="Arial"/>
                <a:cs typeface="Arial"/>
                <a:sym typeface="Arial"/>
              </a:rPr>
              <a:t>Pruebas y validación</a:t>
            </a:r>
            <a:endParaRPr sz="3600" b="1" dirty="0">
              <a:latin typeface="Avenir Book" panose="02000503020000020003" pitchFamily="2" charset="0"/>
              <a:ea typeface="Arial"/>
              <a:cs typeface="Arial"/>
              <a:sym typeface="Arial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8C01E211-2D9A-8C20-E01D-404E659E0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936" y="1629516"/>
            <a:ext cx="4348255" cy="4167078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503C62E2-3C95-4B40-7170-05F882674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4380" y="2250920"/>
            <a:ext cx="5262580" cy="3756621"/>
          </a:xfrm>
          <a:prstGeom prst="rect">
            <a:avLst/>
          </a:prstGeom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4F202369-EDBB-098D-6DF9-6C24E429DCBE}"/>
              </a:ext>
            </a:extLst>
          </p:cNvPr>
          <p:cNvSpPr/>
          <p:nvPr/>
        </p:nvSpPr>
        <p:spPr>
          <a:xfrm>
            <a:off x="4587262" y="3200400"/>
            <a:ext cx="1193778" cy="1981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6516869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8B450-FCC7-723C-6EC7-7A9D4BC18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47;p4">
            <a:extLst>
              <a:ext uri="{FF2B5EF4-FFF2-40B4-BE49-F238E27FC236}">
                <a16:creationId xmlns:a16="http://schemas.microsoft.com/office/drawing/2014/main" id="{07E12C9B-5F7A-49CB-9882-6E24BE404066}"/>
              </a:ext>
            </a:extLst>
          </p:cNvPr>
          <p:cNvSpPr/>
          <p:nvPr/>
        </p:nvSpPr>
        <p:spPr>
          <a:xfrm>
            <a:off x="0" y="1433020"/>
            <a:ext cx="1576552" cy="66507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 Book" panose="02000503020000020003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48;p4">
            <a:extLst>
              <a:ext uri="{FF2B5EF4-FFF2-40B4-BE49-F238E27FC236}">
                <a16:creationId xmlns:a16="http://schemas.microsoft.com/office/drawing/2014/main" id="{2F4150BF-9C42-D497-5963-56F2D1B5A06D}"/>
              </a:ext>
            </a:extLst>
          </p:cNvPr>
          <p:cNvSpPr txBox="1"/>
          <p:nvPr/>
        </p:nvSpPr>
        <p:spPr>
          <a:xfrm>
            <a:off x="720935" y="529226"/>
            <a:ext cx="10595993" cy="62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90000"/>
              </a:lnSpc>
              <a:buClr>
                <a:srgbClr val="002060"/>
              </a:buClr>
              <a:buSzPts val="3600"/>
            </a:pPr>
            <a:r>
              <a:rPr lang="es-PE" sz="3600" b="1" dirty="0">
                <a:latin typeface="Avenir Book" panose="02000503020000020003" pitchFamily="2" charset="0"/>
                <a:ea typeface="Arial"/>
                <a:cs typeface="Arial"/>
                <a:sym typeface="Arial"/>
              </a:rPr>
              <a:t>Pruebas y validación - Módulo de Reportes</a:t>
            </a:r>
            <a:endParaRPr sz="3600" b="1" dirty="0">
              <a:latin typeface="Avenir Book" panose="02000503020000020003" pitchFamily="2" charset="0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F4FCBAD-F9C3-BA7F-694D-3D6D8E899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86" y="1670047"/>
            <a:ext cx="11250595" cy="38105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C93110D-DE39-F585-924F-0AECE0F34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491" y="2330246"/>
            <a:ext cx="8937017" cy="325359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ED7CFBB-16AE-80A1-8BC5-9937C1CCFE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7174" y="5695090"/>
            <a:ext cx="7198942" cy="335787"/>
          </a:xfrm>
          <a:prstGeom prst="rect">
            <a:avLst/>
          </a:prstGeom>
        </p:spPr>
      </p:pic>
      <p:sp>
        <p:nvSpPr>
          <p:cNvPr id="10" name="Elipse 9">
            <a:extLst>
              <a:ext uri="{FF2B5EF4-FFF2-40B4-BE49-F238E27FC236}">
                <a16:creationId xmlns:a16="http://schemas.microsoft.com/office/drawing/2014/main" id="{73A0B51C-5EBD-BF2A-FBA6-621DB5ACED1F}"/>
              </a:ext>
            </a:extLst>
          </p:cNvPr>
          <p:cNvSpPr/>
          <p:nvPr/>
        </p:nvSpPr>
        <p:spPr>
          <a:xfrm>
            <a:off x="8475406" y="2772697"/>
            <a:ext cx="1720645" cy="32446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156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47;p4">
            <a:extLst>
              <a:ext uri="{FF2B5EF4-FFF2-40B4-BE49-F238E27FC236}">
                <a16:creationId xmlns:a16="http://schemas.microsoft.com/office/drawing/2014/main" id="{D5166995-C6A6-350E-541D-A5713EC4D4B4}"/>
              </a:ext>
            </a:extLst>
          </p:cNvPr>
          <p:cNvSpPr/>
          <p:nvPr/>
        </p:nvSpPr>
        <p:spPr>
          <a:xfrm>
            <a:off x="0" y="1433020"/>
            <a:ext cx="1576552" cy="66507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 Book" panose="02000503020000020003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48;p4">
            <a:extLst>
              <a:ext uri="{FF2B5EF4-FFF2-40B4-BE49-F238E27FC236}">
                <a16:creationId xmlns:a16="http://schemas.microsoft.com/office/drawing/2014/main" id="{5116B45A-D21E-E9EF-234D-3B55AF972E85}"/>
              </a:ext>
            </a:extLst>
          </p:cNvPr>
          <p:cNvSpPr txBox="1"/>
          <p:nvPr/>
        </p:nvSpPr>
        <p:spPr>
          <a:xfrm>
            <a:off x="720936" y="529226"/>
            <a:ext cx="7673764" cy="62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lang="es-PE" sz="3600" b="1" dirty="0">
                <a:latin typeface="Avenir Book" panose="02000503020000020003" pitchFamily="2" charset="0"/>
                <a:ea typeface="Arial"/>
                <a:cs typeface="Arial"/>
                <a:sym typeface="Arial"/>
              </a:rPr>
              <a:t>Análisis y discusión de resultados</a:t>
            </a:r>
            <a:endParaRPr sz="3600" b="1" dirty="0">
              <a:latin typeface="Avenir Book" panose="02000503020000020003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7C9E4E1-1DFF-36CD-8342-BED3C5D54D60}"/>
              </a:ext>
            </a:extLst>
          </p:cNvPr>
          <p:cNvSpPr/>
          <p:nvPr/>
        </p:nvSpPr>
        <p:spPr>
          <a:xfrm>
            <a:off x="386080" y="1658105"/>
            <a:ext cx="6560421" cy="44473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373 TN: clientes sin riesgo correctamente identificados; 0 FP: no genera falsas alarmas.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13 TP: riesgos detectados; 37 FN: riesgos no detectados (principal punto a mejorar).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El modelo prioriza precisión (cuando marca “riesgo”, acierta), pero tiene baja sensibilidad (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Recall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≈ 26%).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Implicación operativa: conviene ajustar el umbral (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threshold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) o reforzar con reglas híbridas para reducir FN, aceptando algún FP controlado.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PE" sz="1300" b="1" i="1" dirty="0">
              <a:solidFill>
                <a:srgbClr val="00206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/>
            <a:r>
              <a:rPr lang="es-ES" dirty="0"/>
              <a:t>La matriz muestra que el modelo no genera falsos positivos (0), es decir, no castiga clientes buenos; sin embargo, tiene 37 falsos negativos, por lo que está siendo conservador y deja pasar varios casos de riesgo. Por eso, el ajuste del umbral y el enfoque híbrido ayudan a reducir esos falsos negativos sin perder gobernanza.</a:t>
            </a:r>
            <a:endParaRPr lang="es-ES" sz="1600" b="1" i="1" dirty="0">
              <a:solidFill>
                <a:srgbClr val="00206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A63EF99-4178-CF86-8EB4-18FB36C9B7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389"/>
          <a:stretch/>
        </p:blipFill>
        <p:spPr>
          <a:xfrm>
            <a:off x="6946501" y="1312814"/>
            <a:ext cx="5085019" cy="4503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0264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47;p4">
            <a:extLst>
              <a:ext uri="{FF2B5EF4-FFF2-40B4-BE49-F238E27FC236}">
                <a16:creationId xmlns:a16="http://schemas.microsoft.com/office/drawing/2014/main" id="{D5166995-C6A6-350E-541D-A5713EC4D4B4}"/>
              </a:ext>
            </a:extLst>
          </p:cNvPr>
          <p:cNvSpPr/>
          <p:nvPr/>
        </p:nvSpPr>
        <p:spPr>
          <a:xfrm>
            <a:off x="0" y="1433020"/>
            <a:ext cx="1576552" cy="66507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 Book" panose="02000503020000020003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48;p4">
            <a:extLst>
              <a:ext uri="{FF2B5EF4-FFF2-40B4-BE49-F238E27FC236}">
                <a16:creationId xmlns:a16="http://schemas.microsoft.com/office/drawing/2014/main" id="{5116B45A-D21E-E9EF-234D-3B55AF972E85}"/>
              </a:ext>
            </a:extLst>
          </p:cNvPr>
          <p:cNvSpPr txBox="1"/>
          <p:nvPr/>
        </p:nvSpPr>
        <p:spPr>
          <a:xfrm>
            <a:off x="720936" y="529226"/>
            <a:ext cx="7673764" cy="62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lang="es-PE" sz="3600" b="1" dirty="0">
                <a:latin typeface="Avenir Book" panose="02000503020000020003" pitchFamily="2" charset="0"/>
                <a:ea typeface="Arial"/>
                <a:cs typeface="Arial"/>
                <a:sym typeface="Arial"/>
              </a:rPr>
              <a:t>Análisis y discusión de resultados</a:t>
            </a:r>
            <a:endParaRPr sz="3600" b="1" dirty="0">
              <a:latin typeface="Avenir Book" panose="02000503020000020003" pitchFamily="2" charset="0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677F25A-0566-2F00-22D7-1542A59EE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309" y="1781916"/>
            <a:ext cx="5103701" cy="4101189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7D82E237-29EF-35C6-CED3-F71DA3F39F0B}"/>
              </a:ext>
            </a:extLst>
          </p:cNvPr>
          <p:cNvSpPr txBox="1"/>
          <p:nvPr/>
        </p:nvSpPr>
        <p:spPr>
          <a:xfrm>
            <a:off x="132081" y="1781916"/>
            <a:ext cx="6572228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La ROC muestra el compromiso entre detectar riesgos (TPR/</a:t>
            </a:r>
            <a:r>
              <a:rPr lang="es-ES" dirty="0" err="1"/>
              <a:t>Recall</a:t>
            </a:r>
            <a:r>
              <a:rPr lang="es-ES" dirty="0"/>
              <a:t>) y evitar falsas alarmas (FPR) al variar el umbral.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AUC = 0.74: el modelo posee capacidad de discriminación útil (mejor que azar) para separar riesgo vs no riesgo.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Un umbral bajo aumenta detección de riesgo, pero incrementa revisiones/rechazos a clientes sanos (↑FPR).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Un umbral alto reduce falsas alarmas (↓FPR), pero deja escapar riesgos (↓TPR → ↑FN); el umbral se ajusta según la política institucional.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endParaRPr lang="es-ES" dirty="0"/>
          </a:p>
          <a:p>
            <a:pPr algn="ctr"/>
            <a:r>
              <a:rPr lang="es-ES" sz="1600" dirty="0"/>
              <a:t>La curva ROC muestra cómo cambia el desempeño cuando muevo el umbral: puedo detectar más riesgo aumentando el TPR, pero a costa de más falsos positivos. El AUC de 0.74 indica que el modelo discrimina razonablemente bien entre clientes de riesgo y no riesgo. Operacionalmente, el umbral se calibra según la política: si priorizo reducir mora, bajo el umbral; si priorizo no castigar clientes sanos, lo subo.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6115376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47;p4">
            <a:extLst>
              <a:ext uri="{FF2B5EF4-FFF2-40B4-BE49-F238E27FC236}">
                <a16:creationId xmlns:a16="http://schemas.microsoft.com/office/drawing/2014/main" id="{D5166995-C6A6-350E-541D-A5713EC4D4B4}"/>
              </a:ext>
            </a:extLst>
          </p:cNvPr>
          <p:cNvSpPr/>
          <p:nvPr/>
        </p:nvSpPr>
        <p:spPr>
          <a:xfrm>
            <a:off x="0" y="1433020"/>
            <a:ext cx="1576552" cy="66507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 Book" panose="02000503020000020003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48;p4">
            <a:extLst>
              <a:ext uri="{FF2B5EF4-FFF2-40B4-BE49-F238E27FC236}">
                <a16:creationId xmlns:a16="http://schemas.microsoft.com/office/drawing/2014/main" id="{5116B45A-D21E-E9EF-234D-3B55AF972E85}"/>
              </a:ext>
            </a:extLst>
          </p:cNvPr>
          <p:cNvSpPr txBox="1"/>
          <p:nvPr/>
        </p:nvSpPr>
        <p:spPr>
          <a:xfrm>
            <a:off x="720936" y="529226"/>
            <a:ext cx="7673764" cy="62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lang="es-PE" sz="3600" b="1" dirty="0">
                <a:latin typeface="Avenir Book" panose="02000503020000020003" pitchFamily="2" charset="0"/>
                <a:ea typeface="Arial"/>
                <a:cs typeface="Arial"/>
                <a:sym typeface="Arial"/>
              </a:rPr>
              <a:t>Análisis y discusión de resultados</a:t>
            </a:r>
            <a:endParaRPr sz="3600" b="1" dirty="0">
              <a:latin typeface="Avenir Book" panose="02000503020000020003" pitchFamily="2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4628707-4675-B6DF-4B2D-277318443A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4250066"/>
              </p:ext>
            </p:extLst>
          </p:nvPr>
        </p:nvGraphicFramePr>
        <p:xfrm>
          <a:off x="5502069" y="1482858"/>
          <a:ext cx="6418151" cy="4351338"/>
        </p:xfrm>
        <a:graphic>
          <a:graphicData uri="http://schemas.openxmlformats.org/drawingml/2006/table">
            <a:tbl>
              <a:tblPr>
                <a:tableStyleId>{1FECB4D8-DB02-4DC6-A0A2-4F2EBAE1DC90}</a:tableStyleId>
              </a:tblPr>
              <a:tblGrid>
                <a:gridCol w="990682">
                  <a:extLst>
                    <a:ext uri="{9D8B030D-6E8A-4147-A177-3AD203B41FA5}">
                      <a16:colId xmlns:a16="http://schemas.microsoft.com/office/drawing/2014/main" val="1602728171"/>
                    </a:ext>
                  </a:extLst>
                </a:gridCol>
                <a:gridCol w="1271791">
                  <a:extLst>
                    <a:ext uri="{9D8B030D-6E8A-4147-A177-3AD203B41FA5}">
                      <a16:colId xmlns:a16="http://schemas.microsoft.com/office/drawing/2014/main" val="2551672960"/>
                    </a:ext>
                  </a:extLst>
                </a:gridCol>
                <a:gridCol w="1311535">
                  <a:extLst>
                    <a:ext uri="{9D8B030D-6E8A-4147-A177-3AD203B41FA5}">
                      <a16:colId xmlns:a16="http://schemas.microsoft.com/office/drawing/2014/main" val="2861653916"/>
                    </a:ext>
                  </a:extLst>
                </a:gridCol>
                <a:gridCol w="1013459">
                  <a:extLst>
                    <a:ext uri="{9D8B030D-6E8A-4147-A177-3AD203B41FA5}">
                      <a16:colId xmlns:a16="http://schemas.microsoft.com/office/drawing/2014/main" val="1375647237"/>
                    </a:ext>
                  </a:extLst>
                </a:gridCol>
                <a:gridCol w="1830684">
                  <a:extLst>
                    <a:ext uri="{9D8B030D-6E8A-4147-A177-3AD203B41FA5}">
                      <a16:colId xmlns:a16="http://schemas.microsoft.com/office/drawing/2014/main" val="1553702437"/>
                    </a:ext>
                  </a:extLst>
                </a:gridCol>
              </a:tblGrid>
              <a:tr h="499334">
                <a:tc>
                  <a:txBody>
                    <a:bodyPr/>
                    <a:lstStyle/>
                    <a:p>
                      <a:pPr algn="ctr"/>
                      <a:r>
                        <a:rPr lang="es-EC" sz="1400" b="1"/>
                        <a:t>Escenario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sz="1400" b="1"/>
                        <a:t>Probabilidad (ML)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sz="1400" b="1"/>
                        <a:t>Regla/condición normativa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sz="1400" b="1"/>
                        <a:t>Decisión final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sz="1400" b="1" dirty="0"/>
                        <a:t>Interpretación</a:t>
                      </a:r>
                    </a:p>
                  </a:txBody>
                  <a:tcPr marL="71333" marR="71333" marT="35667" marB="35667" anchor="ctr"/>
                </a:tc>
                <a:extLst>
                  <a:ext uri="{0D108BD9-81ED-4DB2-BD59-A6C34878D82A}">
                    <a16:rowId xmlns:a16="http://schemas.microsoft.com/office/drawing/2014/main" val="305056421"/>
                  </a:ext>
                </a:extLst>
              </a:tr>
              <a:tr h="927334">
                <a:tc>
                  <a:txBody>
                    <a:bodyPr/>
                    <a:lstStyle/>
                    <a:p>
                      <a:pPr algn="ctr"/>
                      <a:r>
                        <a:rPr lang="es-EC" sz="1400" b="1"/>
                        <a:t>Favorable</a:t>
                      </a:r>
                      <a:endParaRPr lang="es-EC" sz="1400"/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sz="1400"/>
                        <a:t>Baja (p &lt; umbral)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sz="1400" dirty="0"/>
                        <a:t>Sin alertas normativas relevantes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sz="1400" b="1"/>
                        <a:t>Aprobable</a:t>
                      </a:r>
                      <a:endParaRPr lang="es-EC" sz="1400"/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El ML y las reglas coinciden: perfil consistente de bajo riesgo.</a:t>
                      </a:r>
                    </a:p>
                  </a:txBody>
                  <a:tcPr marL="71333" marR="71333" marT="35667" marB="35667" anchor="ctr"/>
                </a:tc>
                <a:extLst>
                  <a:ext uri="{0D108BD9-81ED-4DB2-BD59-A6C34878D82A}">
                    <a16:rowId xmlns:a16="http://schemas.microsoft.com/office/drawing/2014/main" val="1052170462"/>
                  </a:ext>
                </a:extLst>
              </a:tr>
              <a:tr h="1355335">
                <a:tc>
                  <a:txBody>
                    <a:bodyPr/>
                    <a:lstStyle/>
                    <a:p>
                      <a:pPr algn="ctr"/>
                      <a:r>
                        <a:rPr lang="es-EC" sz="1400" b="1"/>
                        <a:t>Frontera</a:t>
                      </a:r>
                      <a:endParaRPr lang="es-EC" sz="1400"/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sz="1400"/>
                        <a:t>Cercana al umbral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Señales normativas moderadas / requiere verificación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sz="1400" b="1"/>
                        <a:t>Revisión</a:t>
                      </a:r>
                      <a:endParaRPr lang="es-EC" sz="1400"/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/>
                        <a:t>Caso “gris”: el híbrido evita decisiones automáticas contradictorias y deriva a revisión.</a:t>
                      </a:r>
                    </a:p>
                  </a:txBody>
                  <a:tcPr marL="71333" marR="71333" marT="35667" marB="35667" anchor="ctr"/>
                </a:tc>
                <a:extLst>
                  <a:ext uri="{0D108BD9-81ED-4DB2-BD59-A6C34878D82A}">
                    <a16:rowId xmlns:a16="http://schemas.microsoft.com/office/drawing/2014/main" val="3027637263"/>
                  </a:ext>
                </a:extLst>
              </a:tr>
              <a:tr h="1569335">
                <a:tc>
                  <a:txBody>
                    <a:bodyPr/>
                    <a:lstStyle/>
                    <a:p>
                      <a:pPr algn="ctr"/>
                      <a:r>
                        <a:rPr lang="es-EC" sz="1400" b="1" dirty="0"/>
                        <a:t>Crítico</a:t>
                      </a:r>
                      <a:endParaRPr lang="es-EC" sz="1400" dirty="0"/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sz="1400" dirty="0"/>
                        <a:t>Media/Alta (o incluso no extrema)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Categoría normativa de alto riesgo / restricción por política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sz="1400" b="1" dirty="0"/>
                        <a:t>Rechazo / No elegible</a:t>
                      </a:r>
                      <a:endParaRPr lang="es-EC" sz="1400" dirty="0"/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La norma actúa como “piso” institucional: aunque el ML no sea extremo, la política protege la cartera.</a:t>
                      </a:r>
                    </a:p>
                  </a:txBody>
                  <a:tcPr marL="71333" marR="71333" marT="35667" marB="35667" anchor="ctr"/>
                </a:tc>
                <a:extLst>
                  <a:ext uri="{0D108BD9-81ED-4DB2-BD59-A6C34878D82A}">
                    <a16:rowId xmlns:a16="http://schemas.microsoft.com/office/drawing/2014/main" val="715977459"/>
                  </a:ext>
                </a:extLst>
              </a:tr>
            </a:tbl>
          </a:graphicData>
        </a:graphic>
      </p:graphicFrame>
      <p:sp>
        <p:nvSpPr>
          <p:cNvPr id="9" name="CuadroTexto 8">
            <a:extLst>
              <a:ext uri="{FF2B5EF4-FFF2-40B4-BE49-F238E27FC236}">
                <a16:creationId xmlns:a16="http://schemas.microsoft.com/office/drawing/2014/main" id="{2B11ECD9-CB45-28CE-4CFA-A2886A198FCF}"/>
              </a:ext>
            </a:extLst>
          </p:cNvPr>
          <p:cNvSpPr txBox="1"/>
          <p:nvPr/>
        </p:nvSpPr>
        <p:spPr>
          <a:xfrm>
            <a:off x="0" y="2517616"/>
            <a:ext cx="53035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Favorable: ML y reglas alineadas → decisión directa.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Frontera: p ≈ umbral → el híbrido deriva a revisión y evita contradicciones.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Crítico: la política normativa prevalece para proteger el riesgo institucional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7433355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47;p4">
            <a:extLst>
              <a:ext uri="{FF2B5EF4-FFF2-40B4-BE49-F238E27FC236}">
                <a16:creationId xmlns:a16="http://schemas.microsoft.com/office/drawing/2014/main" id="{D5166995-C6A6-350E-541D-A5713EC4D4B4}"/>
              </a:ext>
            </a:extLst>
          </p:cNvPr>
          <p:cNvSpPr/>
          <p:nvPr/>
        </p:nvSpPr>
        <p:spPr>
          <a:xfrm>
            <a:off x="0" y="1433020"/>
            <a:ext cx="1576552" cy="66507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 Book" panose="02000503020000020003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48;p4">
            <a:extLst>
              <a:ext uri="{FF2B5EF4-FFF2-40B4-BE49-F238E27FC236}">
                <a16:creationId xmlns:a16="http://schemas.microsoft.com/office/drawing/2014/main" id="{5116B45A-D21E-E9EF-234D-3B55AF972E85}"/>
              </a:ext>
            </a:extLst>
          </p:cNvPr>
          <p:cNvSpPr txBox="1"/>
          <p:nvPr/>
        </p:nvSpPr>
        <p:spPr>
          <a:xfrm>
            <a:off x="720936" y="529226"/>
            <a:ext cx="5911091" cy="62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lang="es-PE" sz="3600" b="1" dirty="0">
                <a:latin typeface="Avenir Book" panose="02000503020000020003" pitchFamily="2" charset="0"/>
                <a:ea typeface="Arial"/>
                <a:cs typeface="Arial"/>
                <a:sym typeface="Arial"/>
              </a:rPr>
              <a:t>Conclusiones</a:t>
            </a:r>
            <a:endParaRPr sz="3600" b="1" dirty="0">
              <a:latin typeface="Avenir Book" panose="02000503020000020003" pitchFamily="2" charset="0"/>
              <a:ea typeface="Arial"/>
              <a:cs typeface="Arial"/>
              <a:sym typeface="Arial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5BD516A2-E0DE-AC2B-462B-055959308F07}"/>
              </a:ext>
            </a:extLst>
          </p:cNvPr>
          <p:cNvGrpSpPr/>
          <p:nvPr/>
        </p:nvGrpSpPr>
        <p:grpSpPr>
          <a:xfrm>
            <a:off x="942537" y="1994765"/>
            <a:ext cx="10156387" cy="1032093"/>
            <a:chOff x="3793590" y="1190625"/>
            <a:chExt cx="7367525" cy="1032093"/>
          </a:xfrm>
        </p:grpSpPr>
        <p:cxnSp>
          <p:nvCxnSpPr>
            <p:cNvPr id="4" name="Straight Connector 72">
              <a:extLst>
                <a:ext uri="{FF2B5EF4-FFF2-40B4-BE49-F238E27FC236}">
                  <a16:creationId xmlns:a16="http://schemas.microsoft.com/office/drawing/2014/main" id="{21D25D6D-C598-BE02-FE6F-C10372FA241E}"/>
                </a:ext>
              </a:extLst>
            </p:cNvPr>
            <p:cNvCxnSpPr/>
            <p:nvPr/>
          </p:nvCxnSpPr>
          <p:spPr>
            <a:xfrm>
              <a:off x="4400786" y="1190625"/>
              <a:ext cx="0" cy="935410"/>
            </a:xfrm>
            <a:prstGeom prst="line">
              <a:avLst/>
            </a:prstGeom>
            <a:ln w="571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68">
              <a:extLst>
                <a:ext uri="{FF2B5EF4-FFF2-40B4-BE49-F238E27FC236}">
                  <a16:creationId xmlns:a16="http://schemas.microsoft.com/office/drawing/2014/main" id="{E45CE123-DD47-2407-C0A3-4362ECD44CDF}"/>
                </a:ext>
              </a:extLst>
            </p:cNvPr>
            <p:cNvSpPr txBox="1"/>
            <p:nvPr/>
          </p:nvSpPr>
          <p:spPr>
            <a:xfrm>
              <a:off x="3793590" y="1365942"/>
              <a:ext cx="42466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id-ID" sz="2800" b="1" dirty="0">
                  <a:solidFill>
                    <a:srgbClr val="002060"/>
                  </a:solidFill>
                  <a:latin typeface="Arial" panose="020B0604020202020204" pitchFamily="34" charset="0"/>
                  <a:ea typeface="Lato" panose="020F0502020204030203" pitchFamily="34" charset="0"/>
                  <a:cs typeface="Arial" panose="020B0604020202020204" pitchFamily="34" charset="0"/>
                </a:rPr>
                <a:t>01</a:t>
              </a: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07B9C5ED-73FB-AFF8-E6D8-DD667B3B4B55}"/>
                </a:ext>
              </a:extLst>
            </p:cNvPr>
            <p:cNvSpPr txBox="1"/>
            <p:nvPr/>
          </p:nvSpPr>
          <p:spPr>
            <a:xfrm>
              <a:off x="4694695" y="1299388"/>
              <a:ext cx="646642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venir Book" panose="02000503020000020003" pitchFamily="2" charset="0"/>
                  <a:ea typeface="Lato" panose="020F0502020204030203" pitchFamily="34" charset="0"/>
                  <a:cs typeface="Arial" panose="020B0604020202020204" pitchFamily="34" charset="0"/>
                </a:rPr>
                <a:t>Viabilidad técnica y operativa: se implementó un sistema funcional (modelo + aplicativo web) capaz de ejecutar </a:t>
              </a:r>
              <a:r>
                <a:rPr lang="es-ES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venir Book" panose="02000503020000020003" pitchFamily="2" charset="0"/>
                  <a:ea typeface="Lato" panose="020F0502020204030203" pitchFamily="34" charset="0"/>
                  <a:cs typeface="Arial" panose="020B0604020202020204" pitchFamily="34" charset="0"/>
                </a:rPr>
                <a:t>scoring</a:t>
              </a:r>
              <a:r>
                <a:rPr lang="es-E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venir Book" panose="02000503020000020003" pitchFamily="2" charset="0"/>
                  <a:ea typeface="Lato" panose="020F0502020204030203" pitchFamily="34" charset="0"/>
                  <a:cs typeface="Arial" panose="020B0604020202020204" pitchFamily="34" charset="0"/>
                </a:rPr>
                <a:t> y registrar resultados de forma consistente para la prospección de créditos recurrentes. </a:t>
              </a:r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6D77F896-2CD4-B62D-C0F8-B7A08D4F241C}"/>
              </a:ext>
            </a:extLst>
          </p:cNvPr>
          <p:cNvGrpSpPr/>
          <p:nvPr/>
        </p:nvGrpSpPr>
        <p:grpSpPr>
          <a:xfrm>
            <a:off x="942536" y="3214855"/>
            <a:ext cx="10156389" cy="1200329"/>
            <a:chOff x="3793589" y="1058165"/>
            <a:chExt cx="7367526" cy="1200329"/>
          </a:xfrm>
        </p:grpSpPr>
        <p:cxnSp>
          <p:nvCxnSpPr>
            <p:cNvPr id="10" name="Straight Connector 72">
              <a:extLst>
                <a:ext uri="{FF2B5EF4-FFF2-40B4-BE49-F238E27FC236}">
                  <a16:creationId xmlns:a16="http://schemas.microsoft.com/office/drawing/2014/main" id="{73CF9BDF-D09B-9DCD-D5F4-E9CA76242FCC}"/>
                </a:ext>
              </a:extLst>
            </p:cNvPr>
            <p:cNvCxnSpPr/>
            <p:nvPr/>
          </p:nvCxnSpPr>
          <p:spPr>
            <a:xfrm>
              <a:off x="4400786" y="1190625"/>
              <a:ext cx="0" cy="935410"/>
            </a:xfrm>
            <a:prstGeom prst="line">
              <a:avLst/>
            </a:prstGeom>
            <a:ln w="571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68">
              <a:extLst>
                <a:ext uri="{FF2B5EF4-FFF2-40B4-BE49-F238E27FC236}">
                  <a16:creationId xmlns:a16="http://schemas.microsoft.com/office/drawing/2014/main" id="{51EE3641-77DC-2331-393E-45D3B6C359BC}"/>
                </a:ext>
              </a:extLst>
            </p:cNvPr>
            <p:cNvSpPr txBox="1"/>
            <p:nvPr/>
          </p:nvSpPr>
          <p:spPr>
            <a:xfrm>
              <a:off x="3793589" y="1365942"/>
              <a:ext cx="42466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id-ID" sz="2800" b="1" dirty="0">
                  <a:solidFill>
                    <a:srgbClr val="002060"/>
                  </a:solidFill>
                  <a:latin typeface="Arial" panose="020B0604020202020204" pitchFamily="34" charset="0"/>
                  <a:ea typeface="Lato" panose="020F0502020204030203" pitchFamily="34" charset="0"/>
                  <a:cs typeface="Arial" panose="020B0604020202020204" pitchFamily="34" charset="0"/>
                </a:rPr>
                <a:t>0</a:t>
              </a:r>
              <a:r>
                <a:rPr lang="es-ES" sz="2800" b="1" dirty="0">
                  <a:solidFill>
                    <a:srgbClr val="002060"/>
                  </a:solidFill>
                  <a:latin typeface="Arial" panose="020B0604020202020204" pitchFamily="34" charset="0"/>
                  <a:ea typeface="Lato" panose="020F0502020204030203" pitchFamily="34" charset="0"/>
                  <a:cs typeface="Arial" panose="020B0604020202020204" pitchFamily="34" charset="0"/>
                </a:rPr>
                <a:t>2</a:t>
              </a:r>
              <a:endParaRPr lang="id-ID" sz="2800" b="1" dirty="0">
                <a:solidFill>
                  <a:srgbClr val="002060"/>
                </a:solidFill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F7CB631F-4DD2-4933-1431-D38BDA6FF7B4}"/>
                </a:ext>
              </a:extLst>
            </p:cNvPr>
            <p:cNvSpPr txBox="1"/>
            <p:nvPr/>
          </p:nvSpPr>
          <p:spPr>
            <a:xfrm>
              <a:off x="4694702" y="1058165"/>
              <a:ext cx="646641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venir Book" panose="02000503020000020003" pitchFamily="2" charset="0"/>
                  <a:ea typeface="Lato" panose="020F0502020204030203" pitchFamily="34" charset="0"/>
                  <a:cs typeface="Arial" panose="020B0604020202020204" pitchFamily="34" charset="0"/>
                </a:rPr>
                <a:t>Calidad del desempeño y lectura de riesgo: el modelo presenta capacidad de discriminación útil (AUC≈0.74) y alto control de falsas alarmas; sin embargo, la matriz de confusión evidencia una detección limitada de la clase positiva (riesgo), lo que exige calibración del umbral para reducir falsos negativos. </a:t>
              </a:r>
            </a:p>
          </p:txBody>
        </p: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DC8BB8BC-81DE-48A0-BE40-8122579D857B}"/>
              </a:ext>
            </a:extLst>
          </p:cNvPr>
          <p:cNvGrpSpPr/>
          <p:nvPr/>
        </p:nvGrpSpPr>
        <p:grpSpPr>
          <a:xfrm>
            <a:off x="942537" y="4675127"/>
            <a:ext cx="10156379" cy="960148"/>
            <a:chOff x="3793590" y="1165887"/>
            <a:chExt cx="7367519" cy="960148"/>
          </a:xfrm>
        </p:grpSpPr>
        <p:cxnSp>
          <p:nvCxnSpPr>
            <p:cNvPr id="14" name="Straight Connector 72">
              <a:extLst>
                <a:ext uri="{FF2B5EF4-FFF2-40B4-BE49-F238E27FC236}">
                  <a16:creationId xmlns:a16="http://schemas.microsoft.com/office/drawing/2014/main" id="{E6ECF26D-4EDB-3960-B7ED-E3D34CE10C28}"/>
                </a:ext>
              </a:extLst>
            </p:cNvPr>
            <p:cNvCxnSpPr/>
            <p:nvPr/>
          </p:nvCxnSpPr>
          <p:spPr>
            <a:xfrm>
              <a:off x="4400786" y="1190625"/>
              <a:ext cx="0" cy="935410"/>
            </a:xfrm>
            <a:prstGeom prst="line">
              <a:avLst/>
            </a:prstGeom>
            <a:ln w="571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68">
              <a:extLst>
                <a:ext uri="{FF2B5EF4-FFF2-40B4-BE49-F238E27FC236}">
                  <a16:creationId xmlns:a16="http://schemas.microsoft.com/office/drawing/2014/main" id="{569BE5AC-294D-4229-BA67-8FA5DCE59504}"/>
                </a:ext>
              </a:extLst>
            </p:cNvPr>
            <p:cNvSpPr txBox="1"/>
            <p:nvPr/>
          </p:nvSpPr>
          <p:spPr>
            <a:xfrm>
              <a:off x="3793590" y="1365942"/>
              <a:ext cx="42466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s-ES" sz="2800" b="1" dirty="0">
                  <a:solidFill>
                    <a:srgbClr val="002060"/>
                  </a:solidFill>
                  <a:latin typeface="Arial" panose="020B0604020202020204" pitchFamily="34" charset="0"/>
                  <a:ea typeface="Lato" panose="020F0502020204030203" pitchFamily="34" charset="0"/>
                  <a:cs typeface="Arial" panose="020B0604020202020204" pitchFamily="34" charset="0"/>
                </a:rPr>
                <a:t>03</a:t>
              </a:r>
              <a:endParaRPr lang="id-ID" sz="2800" b="1" dirty="0">
                <a:solidFill>
                  <a:srgbClr val="002060"/>
                </a:solidFill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C9EFFC21-597A-9CC5-BB16-A384EBD76C90}"/>
                </a:ext>
              </a:extLst>
            </p:cNvPr>
            <p:cNvSpPr txBox="1"/>
            <p:nvPr/>
          </p:nvSpPr>
          <p:spPr>
            <a:xfrm>
              <a:off x="4694695" y="1165887"/>
              <a:ext cx="646641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venir Book" panose="02000503020000020003" pitchFamily="2" charset="0"/>
                  <a:ea typeface="Lato" panose="020F0502020204030203" pitchFamily="34" charset="0"/>
                  <a:cs typeface="Arial" panose="020B0604020202020204" pitchFamily="34" charset="0"/>
                </a:rPr>
                <a:t>Aporte institucional (híbrido + gobernanza): la integración ML + reglas/políticas mejora la coherencia y la auditabilidad de la decisión, especialmente en casos frontera, fortaleciendo la gestión del riesgo en escenarios reales.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41306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47;p4">
            <a:extLst>
              <a:ext uri="{FF2B5EF4-FFF2-40B4-BE49-F238E27FC236}">
                <a16:creationId xmlns:a16="http://schemas.microsoft.com/office/drawing/2014/main" id="{D5166995-C6A6-350E-541D-A5713EC4D4B4}"/>
              </a:ext>
            </a:extLst>
          </p:cNvPr>
          <p:cNvSpPr/>
          <p:nvPr/>
        </p:nvSpPr>
        <p:spPr>
          <a:xfrm>
            <a:off x="0" y="1433020"/>
            <a:ext cx="1576552" cy="66507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 Book" panose="02000503020000020003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48;p4">
            <a:extLst>
              <a:ext uri="{FF2B5EF4-FFF2-40B4-BE49-F238E27FC236}">
                <a16:creationId xmlns:a16="http://schemas.microsoft.com/office/drawing/2014/main" id="{5116B45A-D21E-E9EF-234D-3B55AF972E85}"/>
              </a:ext>
            </a:extLst>
          </p:cNvPr>
          <p:cNvSpPr txBox="1"/>
          <p:nvPr/>
        </p:nvSpPr>
        <p:spPr>
          <a:xfrm>
            <a:off x="720936" y="529226"/>
            <a:ext cx="5911091" cy="62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lang="es-PE" sz="3600" b="1" dirty="0">
                <a:latin typeface="Avenir Book" panose="02000503020000020003" pitchFamily="2" charset="0"/>
                <a:ea typeface="Arial"/>
                <a:cs typeface="Arial"/>
                <a:sym typeface="Arial"/>
              </a:rPr>
              <a:t>Recomendaciones</a:t>
            </a:r>
            <a:endParaRPr sz="3600" b="1" dirty="0">
              <a:latin typeface="Avenir Book" panose="02000503020000020003" pitchFamily="2" charset="0"/>
              <a:ea typeface="Arial"/>
              <a:cs typeface="Arial"/>
              <a:sym typeface="Arial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5BD516A2-E0DE-AC2B-462B-055959308F07}"/>
              </a:ext>
            </a:extLst>
          </p:cNvPr>
          <p:cNvGrpSpPr/>
          <p:nvPr/>
        </p:nvGrpSpPr>
        <p:grpSpPr>
          <a:xfrm>
            <a:off x="942537" y="1970027"/>
            <a:ext cx="10156387" cy="960148"/>
            <a:chOff x="3793590" y="1165887"/>
            <a:chExt cx="7367525" cy="960148"/>
          </a:xfrm>
        </p:grpSpPr>
        <p:cxnSp>
          <p:nvCxnSpPr>
            <p:cNvPr id="4" name="Straight Connector 72">
              <a:extLst>
                <a:ext uri="{FF2B5EF4-FFF2-40B4-BE49-F238E27FC236}">
                  <a16:creationId xmlns:a16="http://schemas.microsoft.com/office/drawing/2014/main" id="{21D25D6D-C598-BE02-FE6F-C10372FA241E}"/>
                </a:ext>
              </a:extLst>
            </p:cNvPr>
            <p:cNvCxnSpPr/>
            <p:nvPr/>
          </p:nvCxnSpPr>
          <p:spPr>
            <a:xfrm>
              <a:off x="4400786" y="1190625"/>
              <a:ext cx="0" cy="935410"/>
            </a:xfrm>
            <a:prstGeom prst="line">
              <a:avLst/>
            </a:prstGeom>
            <a:ln w="571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68">
              <a:extLst>
                <a:ext uri="{FF2B5EF4-FFF2-40B4-BE49-F238E27FC236}">
                  <a16:creationId xmlns:a16="http://schemas.microsoft.com/office/drawing/2014/main" id="{E45CE123-DD47-2407-C0A3-4362ECD44CDF}"/>
                </a:ext>
              </a:extLst>
            </p:cNvPr>
            <p:cNvSpPr txBox="1"/>
            <p:nvPr/>
          </p:nvSpPr>
          <p:spPr>
            <a:xfrm>
              <a:off x="3793590" y="1365942"/>
              <a:ext cx="42466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id-ID" sz="2800" b="1" dirty="0">
                  <a:solidFill>
                    <a:srgbClr val="002060"/>
                  </a:solidFill>
                  <a:latin typeface="Arial" panose="020B0604020202020204" pitchFamily="34" charset="0"/>
                  <a:ea typeface="Lato" panose="020F0502020204030203" pitchFamily="34" charset="0"/>
                  <a:cs typeface="Arial" panose="020B0604020202020204" pitchFamily="34" charset="0"/>
                </a:rPr>
                <a:t>01</a:t>
              </a: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07B9C5ED-73FB-AFF8-E6D8-DD667B3B4B55}"/>
                </a:ext>
              </a:extLst>
            </p:cNvPr>
            <p:cNvSpPr txBox="1"/>
            <p:nvPr/>
          </p:nvSpPr>
          <p:spPr>
            <a:xfrm>
              <a:off x="4694695" y="1165887"/>
              <a:ext cx="646642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venir Book" panose="02000503020000020003" pitchFamily="2" charset="0"/>
                  <a:ea typeface="Lato" panose="020F0502020204030203" pitchFamily="34" charset="0"/>
                  <a:cs typeface="Arial" panose="020B0604020202020204" pitchFamily="34" charset="0"/>
                </a:rPr>
                <a:t>Calibrar el umbral por política de riesgo: ajustar </a:t>
              </a:r>
              <a:r>
                <a:rPr lang="es-ES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venir Book" panose="02000503020000020003" pitchFamily="2" charset="0"/>
                  <a:ea typeface="Lato" panose="020F0502020204030203" pitchFamily="34" charset="0"/>
                  <a:cs typeface="Arial" panose="020B0604020202020204" pitchFamily="34" charset="0"/>
                </a:rPr>
                <a:t>threshold_proba</a:t>
              </a:r>
              <a:r>
                <a:rPr lang="es-E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venir Book" panose="02000503020000020003" pitchFamily="2" charset="0"/>
                  <a:ea typeface="Lato" panose="020F0502020204030203" pitchFamily="34" charset="0"/>
                  <a:cs typeface="Arial" panose="020B0604020202020204" pitchFamily="34" charset="0"/>
                </a:rPr>
                <a:t> con base en el costo de errores (priorizando reducir falsos negativos si el objetivo es disminuir mora), y documentar ese umbral como parámetro institucional.</a:t>
              </a:r>
              <a:endParaRPr lang="es-E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venir Book" panose="02000503020000020003" pitchFamily="2" charset="0"/>
                <a:ea typeface="Lato" panose="020F0502020204030203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6D77F896-2CD4-B62D-C0F8-B7A08D4F241C}"/>
              </a:ext>
            </a:extLst>
          </p:cNvPr>
          <p:cNvGrpSpPr/>
          <p:nvPr/>
        </p:nvGrpSpPr>
        <p:grpSpPr>
          <a:xfrm>
            <a:off x="942536" y="3322577"/>
            <a:ext cx="10156379" cy="960148"/>
            <a:chOff x="3793589" y="1165887"/>
            <a:chExt cx="7367519" cy="960148"/>
          </a:xfrm>
        </p:grpSpPr>
        <p:cxnSp>
          <p:nvCxnSpPr>
            <p:cNvPr id="10" name="Straight Connector 72">
              <a:extLst>
                <a:ext uri="{FF2B5EF4-FFF2-40B4-BE49-F238E27FC236}">
                  <a16:creationId xmlns:a16="http://schemas.microsoft.com/office/drawing/2014/main" id="{73CF9BDF-D09B-9DCD-D5F4-E9CA76242FCC}"/>
                </a:ext>
              </a:extLst>
            </p:cNvPr>
            <p:cNvCxnSpPr/>
            <p:nvPr/>
          </p:nvCxnSpPr>
          <p:spPr>
            <a:xfrm>
              <a:off x="4400786" y="1190625"/>
              <a:ext cx="0" cy="935410"/>
            </a:xfrm>
            <a:prstGeom prst="line">
              <a:avLst/>
            </a:prstGeom>
            <a:ln w="571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68">
              <a:extLst>
                <a:ext uri="{FF2B5EF4-FFF2-40B4-BE49-F238E27FC236}">
                  <a16:creationId xmlns:a16="http://schemas.microsoft.com/office/drawing/2014/main" id="{51EE3641-77DC-2331-393E-45D3B6C359BC}"/>
                </a:ext>
              </a:extLst>
            </p:cNvPr>
            <p:cNvSpPr txBox="1"/>
            <p:nvPr/>
          </p:nvSpPr>
          <p:spPr>
            <a:xfrm>
              <a:off x="3793589" y="1365942"/>
              <a:ext cx="42466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id-ID" sz="2800" b="1" dirty="0">
                  <a:solidFill>
                    <a:srgbClr val="002060"/>
                  </a:solidFill>
                  <a:latin typeface="Arial" panose="020B0604020202020204" pitchFamily="34" charset="0"/>
                  <a:ea typeface="Lato" panose="020F0502020204030203" pitchFamily="34" charset="0"/>
                  <a:cs typeface="Arial" panose="020B0604020202020204" pitchFamily="34" charset="0"/>
                </a:rPr>
                <a:t>0</a:t>
              </a:r>
              <a:r>
                <a:rPr lang="es-ES" sz="2800" b="1" dirty="0">
                  <a:solidFill>
                    <a:srgbClr val="002060"/>
                  </a:solidFill>
                  <a:latin typeface="Arial" panose="020B0604020202020204" pitchFamily="34" charset="0"/>
                  <a:ea typeface="Lato" panose="020F0502020204030203" pitchFamily="34" charset="0"/>
                  <a:cs typeface="Arial" panose="020B0604020202020204" pitchFamily="34" charset="0"/>
                </a:rPr>
                <a:t>2</a:t>
              </a:r>
              <a:endParaRPr lang="id-ID" sz="2800" b="1" dirty="0">
                <a:solidFill>
                  <a:srgbClr val="002060"/>
                </a:solidFill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F7CB631F-4DD2-4933-1431-D38BDA6FF7B4}"/>
                </a:ext>
              </a:extLst>
            </p:cNvPr>
            <p:cNvSpPr txBox="1"/>
            <p:nvPr/>
          </p:nvSpPr>
          <p:spPr>
            <a:xfrm>
              <a:off x="4694695" y="1165887"/>
              <a:ext cx="646641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venir Book" panose="02000503020000020003" pitchFamily="2" charset="0"/>
                  <a:ea typeface="Lato" panose="020F0502020204030203" pitchFamily="34" charset="0"/>
                  <a:cs typeface="Arial" panose="020B0604020202020204" pitchFamily="34" charset="0"/>
                </a:rPr>
                <a:t>Monitoreo y mejora continua: incorporar seguimiento de desempeño (</a:t>
              </a:r>
              <a:r>
                <a:rPr lang="es-ES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venir Book" panose="02000503020000020003" pitchFamily="2" charset="0"/>
                  <a:ea typeface="Lato" panose="020F0502020204030203" pitchFamily="34" charset="0"/>
                  <a:cs typeface="Arial" panose="020B0604020202020204" pitchFamily="34" charset="0"/>
                </a:rPr>
                <a:t>drift</a:t>
              </a:r>
              <a:r>
                <a:rPr lang="es-E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venir Book" panose="02000503020000020003" pitchFamily="2" charset="0"/>
                  <a:ea typeface="Lato" panose="020F0502020204030203" pitchFamily="34" charset="0"/>
                  <a:cs typeface="Arial" panose="020B0604020202020204" pitchFamily="34" charset="0"/>
                </a:rPr>
                <a:t> de datos y métricas) y reentrenamiento/validación periódica con versionado del modelo para mantener estabilidad en producción.</a:t>
              </a:r>
              <a:endParaRPr lang="es-E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venir Book" panose="02000503020000020003" pitchFamily="2" charset="0"/>
              </a:endParaRPr>
            </a:p>
          </p:txBody>
        </p: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DC8BB8BC-81DE-48A0-BE40-8122579D857B}"/>
              </a:ext>
            </a:extLst>
          </p:cNvPr>
          <p:cNvGrpSpPr/>
          <p:nvPr/>
        </p:nvGrpSpPr>
        <p:grpSpPr>
          <a:xfrm>
            <a:off x="942537" y="4673210"/>
            <a:ext cx="10146576" cy="962065"/>
            <a:chOff x="3793590" y="1163970"/>
            <a:chExt cx="7360408" cy="962065"/>
          </a:xfrm>
        </p:grpSpPr>
        <p:cxnSp>
          <p:nvCxnSpPr>
            <p:cNvPr id="14" name="Straight Connector 72">
              <a:extLst>
                <a:ext uri="{FF2B5EF4-FFF2-40B4-BE49-F238E27FC236}">
                  <a16:creationId xmlns:a16="http://schemas.microsoft.com/office/drawing/2014/main" id="{E6ECF26D-4EDB-3960-B7ED-E3D34CE10C28}"/>
                </a:ext>
              </a:extLst>
            </p:cNvPr>
            <p:cNvCxnSpPr/>
            <p:nvPr/>
          </p:nvCxnSpPr>
          <p:spPr>
            <a:xfrm>
              <a:off x="4400786" y="1190625"/>
              <a:ext cx="0" cy="935410"/>
            </a:xfrm>
            <a:prstGeom prst="line">
              <a:avLst/>
            </a:prstGeom>
            <a:ln w="571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68">
              <a:extLst>
                <a:ext uri="{FF2B5EF4-FFF2-40B4-BE49-F238E27FC236}">
                  <a16:creationId xmlns:a16="http://schemas.microsoft.com/office/drawing/2014/main" id="{569BE5AC-294D-4229-BA67-8FA5DCE59504}"/>
                </a:ext>
              </a:extLst>
            </p:cNvPr>
            <p:cNvSpPr txBox="1"/>
            <p:nvPr/>
          </p:nvSpPr>
          <p:spPr>
            <a:xfrm>
              <a:off x="3793590" y="1365942"/>
              <a:ext cx="42466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s-ES" sz="2800" b="1" dirty="0">
                  <a:solidFill>
                    <a:srgbClr val="002060"/>
                  </a:solidFill>
                  <a:latin typeface="Arial" panose="020B0604020202020204" pitchFamily="34" charset="0"/>
                  <a:ea typeface="Lato" panose="020F0502020204030203" pitchFamily="34" charset="0"/>
                  <a:cs typeface="Arial" panose="020B0604020202020204" pitchFamily="34" charset="0"/>
                </a:rPr>
                <a:t>03</a:t>
              </a:r>
              <a:endParaRPr lang="id-ID" sz="2800" b="1" dirty="0">
                <a:solidFill>
                  <a:srgbClr val="002060"/>
                </a:solidFill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C9EFFC21-597A-9CC5-BB16-A384EBD76C90}"/>
                </a:ext>
              </a:extLst>
            </p:cNvPr>
            <p:cNvSpPr txBox="1"/>
            <p:nvPr/>
          </p:nvSpPr>
          <p:spPr>
            <a:xfrm>
              <a:off x="4687584" y="1163970"/>
              <a:ext cx="646641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venir Book" panose="02000503020000020003" pitchFamily="2" charset="0"/>
                  <a:ea typeface="Lato" panose="020F0502020204030203" pitchFamily="34" charset="0"/>
                  <a:cs typeface="Arial" panose="020B0604020202020204" pitchFamily="34" charset="0"/>
                </a:rPr>
                <a:t>Explicabilidad y control: reforzar la interpretabilidad (p.ej., explicaciones por variables/reglas) y mantener la trazabilidad (quién/cuándo/qué probabilidad) para auditoría y adopción por usuarios de crédito.</a:t>
              </a:r>
              <a:endParaRPr lang="es-E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venir Book" panose="02000503020000020003" pitchFamily="2" charset="0"/>
                <a:ea typeface="Lato" panose="020F0502020204030203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631124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7FB99F-8350-B089-8126-7FE7E8A8E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2018"/>
            <a:ext cx="10515600" cy="1325563"/>
          </a:xfrm>
        </p:spPr>
        <p:txBody>
          <a:bodyPr/>
          <a:lstStyle/>
          <a:p>
            <a:r>
              <a:rPr lang="es-EC" dirty="0">
                <a:solidFill>
                  <a:schemeClr val="accent4"/>
                </a:solidFill>
                <a:latin typeface="Avenir Book" panose="02000503020000020003" pitchFamily="2" charset="0"/>
              </a:rPr>
              <a:t>¡Gracias por su atención!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26D9245-2ABB-CCC9-95EE-C3EFD0FC3926}"/>
              </a:ext>
            </a:extLst>
          </p:cNvPr>
          <p:cNvSpPr txBox="1">
            <a:spLocks/>
          </p:cNvSpPr>
          <p:nvPr/>
        </p:nvSpPr>
        <p:spPr>
          <a:xfrm>
            <a:off x="838200" y="1440655"/>
            <a:ext cx="1051560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C" dirty="0">
                <a:latin typeface="Avenir Book" panose="02000503020000020003" pitchFamily="2" charset="0"/>
              </a:rPr>
              <a:t>¿Preguntas?</a:t>
            </a:r>
          </a:p>
        </p:txBody>
      </p:sp>
    </p:spTree>
    <p:extLst>
      <p:ext uri="{BB962C8B-B14F-4D97-AF65-F5344CB8AC3E}">
        <p14:creationId xmlns:p14="http://schemas.microsoft.com/office/powerpoint/2010/main" val="10190943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10698</TotalTime>
  <Words>1730</Words>
  <Application>Microsoft Office PowerPoint</Application>
  <PresentationFormat>Panorámica</PresentationFormat>
  <Paragraphs>144</Paragraphs>
  <Slides>23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9" baseType="lpstr">
      <vt:lpstr>Avenir Black</vt:lpstr>
      <vt:lpstr>Avenir Book</vt:lpstr>
      <vt:lpstr>Avenir Medium</vt:lpstr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¡Gracias por su atención!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</dc:creator>
  <cp:lastModifiedBy>Nicole Calvas</cp:lastModifiedBy>
  <cp:revision>27</cp:revision>
  <dcterms:created xsi:type="dcterms:W3CDTF">2022-04-18T16:36:16Z</dcterms:created>
  <dcterms:modified xsi:type="dcterms:W3CDTF">2026-03-22T01:53:09Z</dcterms:modified>
</cp:coreProperties>
</file>